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0" r:id="rId14"/>
    <p:sldId id="279" r:id="rId15"/>
    <p:sldId id="276" r:id="rId16"/>
    <p:sldId id="278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7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108B-41B2-4CA4-A759-F57413A5E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9C0DE-4885-4A6A-9015-C4A579378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6D8C3-8EE8-4114-8299-0CDA1055EB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82513-5C51-4EB3-80C1-B9936C9F79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04F6-4062-415A-AE8E-C881D1DA3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D2AC-1D56-43DE-91F5-DB94E488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3110F-AC6F-47D5-970B-69BE883C2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39E36-4D35-4696-B495-E574E5317F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9341-08E4-4895-8BD8-149D9E4556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69959-93DD-4424-9B8D-0932C77D6F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66CC-23F4-430A-B9A5-DEB774266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7C3E0-93ED-4707-9C9C-34445565E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BB5A1-13F6-49D8-A0C4-0892443A54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D0160-CCA1-45AE-8A17-86A8DEE808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26FC3-73FB-4F0C-AF09-5F9ED48848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A1E1C-EDD2-449C-80F4-4967E703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F9F0-6A39-4807-BD66-D46561640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D99AD-C6B6-4AF7-8951-B20806F2B5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D65D7-18B5-4E18-863B-4AA05922A9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B63E4-780A-42D2-8441-867957AC8D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105AB-2478-41CD-8CA2-EB6B5E7577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DC24-CA91-4B6A-A8A4-DD12A2BA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7137-B101-4D55-B5D5-707A5B588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8B8C2-2574-4EE7-8E91-07FA0D3ED4D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4BBA3-2861-42AC-B002-FC05F19DEDD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C8D5C0-39B7-410E-956F-B378F17A05A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208AE5-AF03-42C8-B564-5C2AFB77C4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A0EFAF-C211-4DDA-80C2-2ED3C938F6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F55CD-FAF7-4B80-A19A-1BC4F513F7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8ED9-685D-4EA6-9709-112FF835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5B7D2-4294-4906-B931-FB85C05659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0412D-5640-4CA8-A9E4-328549C677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6C34F-B6B2-4582-BA78-8BFCEC0F6D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89896-D8ED-434F-9FC0-CA269211E1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CD1BC1-4056-4557-B9FB-320FEEA20C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E5AF9-A295-4F5A-AEF4-1289A3FE4F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9761-4005-48B0-90A8-E018F1C9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7190D-251C-436B-9669-8F8D75F09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7E914-666D-4E64-9FC6-2F60932094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AFD3C-11F9-4217-BB4D-7F07BFA3E4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43DFC-130E-4BC9-8454-6E6C3A3600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BF025-07EA-43AF-9963-9AD43A666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9362-2A1E-4C25-9C1B-B8607CC6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4284B-C2AE-4435-AC65-739E5D6D9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899A4-8591-4A28-B2E7-0C618D63F3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5A7AE-F53E-40A7-BAD4-EDBBDECCE6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68166-3040-4C5B-A086-B49A6C652F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B4CB6-8A3D-4800-82E3-8DE2106780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1B45-2E8C-40A3-AF96-6E09EC2D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953F8-946A-444D-837D-30726A639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B7D9E-7C62-4E42-8D9E-E3243D388E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6FBD9-ACA2-44B5-952E-FBE535C9AE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AD99B-300B-4589-BC80-0693F02C3B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766D26-6AF7-414E-BC30-5167474A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4F5EB-2E4C-4D32-A8B6-16764D5D0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8F39E-D3E6-4ACD-9909-7F25541CD6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34C7-B36D-46AC-AC22-CC76EE2F2B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69469-BFDE-4ED5-9E32-B5BE8BF5E0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5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AD8936-E362-4DD7-B0CF-EDA206F3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A95AA-005C-4853-B555-C54ECAEA3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A2427-15F8-4B33-B9F1-3514F0E6BF0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9/12/2026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3BA08-9BE4-4E5D-BC40-9D5A07A07B1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871FA-288C-43B8-A1CD-9A33BBF097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1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2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85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1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1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4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1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4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46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58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2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97536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Email Verification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365760" y="633984"/>
            <a:ext cx="1463040" cy="42672"/>
          </a:xfrm>
          <a:prstGeom prst="rect">
            <a:avLst/>
          </a:prstGeom>
          <a:solidFill>
            <a:srgbClr val="1A7F8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82880" y="853440"/>
            <a:ext cx="1584960" cy="67056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82880" y="91440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33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1194816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/ verify page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853440"/>
            <a:ext cx="1584960" cy="670560"/>
          </a:xfrm>
          <a:prstGeom prst="roundRect">
            <a:avLst>
              <a:gd name="adj" fmla="val 10909"/>
            </a:avLst>
          </a:prstGeom>
          <a:solidFill>
            <a:srgbClr val="1A7F8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2011680" y="91440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Ctrl</a:t>
            </a:r>
            <a:endParaRPr lang="en-US" sz="1333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194816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auth.controller.ts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853440"/>
            <a:ext cx="1584960" cy="670560"/>
          </a:xfrm>
          <a:prstGeom prst="roundRect">
            <a:avLst>
              <a:gd name="adj" fmla="val 10909"/>
            </a:avLst>
          </a:prstGeom>
          <a:solidFill>
            <a:srgbClr val="9B7A1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3840480" y="91440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Crypto/Bcrypt</a:t>
            </a:r>
            <a:endParaRPr lang="en-US" sz="1333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194816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crypto · bcrypt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853440"/>
            <a:ext cx="1584960" cy="670560"/>
          </a:xfrm>
          <a:prstGeom prst="roundRect">
            <a:avLst>
              <a:gd name="adj" fmla="val 10909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5669280" y="91440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33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194816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RPC +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853440"/>
            <a:ext cx="1584960" cy="670560"/>
          </a:xfrm>
          <a:prstGeom prst="roundRect">
            <a:avLst>
              <a:gd name="adj" fmla="val 10909"/>
            </a:avLst>
          </a:prstGeom>
          <a:solidFill>
            <a:srgbClr val="8E2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7498080" y="91440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33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1194816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sendVerificationEmail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75360" y="1524000"/>
            <a:ext cx="0" cy="4693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2804160" y="1524000"/>
            <a:ext cx="0" cy="4693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4632960" y="1524000"/>
            <a:ext cx="0" cy="4693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461760" y="1524000"/>
            <a:ext cx="0" cy="4693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8290560" y="1524000"/>
            <a:ext cx="0" cy="4693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121920" y="1706880"/>
            <a:ext cx="9022080" cy="2194560"/>
          </a:xfrm>
          <a:prstGeom prst="rect">
            <a:avLst/>
          </a:prstGeom>
          <a:solidFill>
            <a:srgbClr val="F7F3ED">
              <a:alpha val="50000"/>
            </a:srgbClr>
          </a:solidFill>
          <a:ln w="9525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121920" y="1706880"/>
            <a:ext cx="731520" cy="268224"/>
          </a:xfrm>
          <a:prstGeom prst="roundRect">
            <a:avLst>
              <a:gd name="adj" fmla="val 13636"/>
            </a:avLst>
          </a:prstGeom>
          <a:solidFill>
            <a:srgbClr val="E8DCC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121920" y="1706880"/>
            <a:ext cx="731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6B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933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1719072"/>
            <a:ext cx="609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/api/auth/signup — create account, issue verification token</a:t>
            </a:r>
            <a:endParaRPr lang="en-US" sz="933" dirty="0"/>
          </a:p>
        </p:txBody>
      </p:sp>
      <p:sp>
        <p:nvSpPr>
          <p:cNvPr id="28" name="Text 26"/>
          <p:cNvSpPr txBox="1"/>
          <p:nvPr/>
        </p:nvSpPr>
        <p:spPr>
          <a:xfrm>
            <a:off x="1036320" y="2121408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67" dirty="0"/>
          </a:p>
        </p:txBody>
      </p:sp>
      <p:sp>
        <p:nvSpPr>
          <p:cNvPr id="29" name="Shape 27"/>
          <p:cNvSpPr/>
          <p:nvPr/>
        </p:nvSpPr>
        <p:spPr>
          <a:xfrm>
            <a:off x="999744" y="2218944"/>
            <a:ext cx="180441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 txBox="1"/>
          <p:nvPr/>
        </p:nvSpPr>
        <p:spPr>
          <a:xfrm>
            <a:off x="1036320" y="1950720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/signup { firstName, email,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password }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865120" y="2523744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67" dirty="0"/>
          </a:p>
        </p:txBody>
      </p:sp>
      <p:sp>
        <p:nvSpPr>
          <p:cNvPr id="32" name="Shape 30"/>
          <p:cNvSpPr/>
          <p:nvPr/>
        </p:nvSpPr>
        <p:spPr>
          <a:xfrm>
            <a:off x="2828544" y="2621280"/>
            <a:ext cx="363321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 txBox="1"/>
          <p:nvPr/>
        </p:nvSpPr>
        <p:spPr>
          <a:xfrm>
            <a:off x="2865120" y="2353056"/>
            <a:ext cx="3535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users WHERE email = :email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6000" y="2889504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67" dirty="0"/>
          </a:p>
        </p:txBody>
      </p:sp>
      <p:sp>
        <p:nvSpPr>
          <p:cNvPr id="35" name="Shape 33"/>
          <p:cNvSpPr/>
          <p:nvPr/>
        </p:nvSpPr>
        <p:spPr>
          <a:xfrm flipH="1">
            <a:off x="2804160" y="2987040"/>
            <a:ext cx="3633216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lgDash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 txBox="1"/>
          <p:nvPr/>
        </p:nvSpPr>
        <p:spPr>
          <a:xfrm>
            <a:off x="2865120" y="2718816"/>
            <a:ext cx="3535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user_exists  |  null (continue)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865120" y="3218688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67" dirty="0"/>
          </a:p>
        </p:txBody>
      </p:sp>
      <p:sp>
        <p:nvSpPr>
          <p:cNvPr id="38" name="Shape 36"/>
          <p:cNvSpPr/>
          <p:nvPr/>
        </p:nvSpPr>
        <p:spPr>
          <a:xfrm>
            <a:off x="2828544" y="3316224"/>
            <a:ext cx="180441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 txBox="1"/>
          <p:nvPr/>
        </p:nvSpPr>
        <p:spPr>
          <a:xfrm>
            <a:off x="2865120" y="3048000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bcrypt.hash(password, 10)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865120" y="3560064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67" dirty="0"/>
          </a:p>
        </p:txBody>
      </p:sp>
      <p:sp>
        <p:nvSpPr>
          <p:cNvPr id="41" name="Shape 39"/>
          <p:cNvSpPr/>
          <p:nvPr/>
        </p:nvSpPr>
        <p:spPr>
          <a:xfrm>
            <a:off x="2828544" y="3657600"/>
            <a:ext cx="363321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 txBox="1"/>
          <p:nvPr/>
        </p:nvSpPr>
        <p:spPr>
          <a:xfrm>
            <a:off x="2865120" y="3389376"/>
            <a:ext cx="3535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users(email, first_name, password_hash)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21920" y="4047744"/>
            <a:ext cx="9022080" cy="1621536"/>
          </a:xfrm>
          <a:prstGeom prst="rect">
            <a:avLst/>
          </a:prstGeom>
          <a:solidFill>
            <a:srgbClr val="F7F3ED">
              <a:alpha val="50000"/>
            </a:srgbClr>
          </a:solidFill>
          <a:ln w="9525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121920" y="4047744"/>
            <a:ext cx="914400" cy="268224"/>
          </a:xfrm>
          <a:prstGeom prst="roundRect">
            <a:avLst>
              <a:gd name="adj" fmla="val 13636"/>
            </a:avLst>
          </a:prstGeom>
          <a:solidFill>
            <a:srgbClr val="E8DCC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 txBox="1"/>
          <p:nvPr/>
        </p:nvSpPr>
        <p:spPr>
          <a:xfrm>
            <a:off x="121920" y="4047744"/>
            <a:ext cx="914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6B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issue-token</a:t>
            </a:r>
            <a:endParaRPr lang="en-US" sz="933" dirty="0"/>
          </a:p>
        </p:txBody>
      </p:sp>
      <p:sp>
        <p:nvSpPr>
          <p:cNvPr id="46" name="Text 44"/>
          <p:cNvSpPr txBox="1"/>
          <p:nvPr/>
        </p:nvSpPr>
        <p:spPr>
          <a:xfrm>
            <a:off x="1097280" y="4059936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token · hash · store · dispatch email</a:t>
            </a:r>
            <a:endParaRPr lang="en-US" sz="933" dirty="0"/>
          </a:p>
        </p:txBody>
      </p:sp>
      <p:sp>
        <p:nvSpPr>
          <p:cNvPr id="47" name="Text 45"/>
          <p:cNvSpPr txBox="1"/>
          <p:nvPr/>
        </p:nvSpPr>
        <p:spPr>
          <a:xfrm>
            <a:off x="2865120" y="4437888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67" dirty="0"/>
          </a:p>
        </p:txBody>
      </p:sp>
      <p:sp>
        <p:nvSpPr>
          <p:cNvPr id="48" name="Shape 46"/>
          <p:cNvSpPr/>
          <p:nvPr/>
        </p:nvSpPr>
        <p:spPr>
          <a:xfrm>
            <a:off x="2828544" y="4535424"/>
            <a:ext cx="180441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 txBox="1"/>
          <p:nvPr/>
        </p:nvSpPr>
        <p:spPr>
          <a:xfrm>
            <a:off x="2865120" y="4267200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crypto.randomBytes(20) → token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2865120" y="4779264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67" dirty="0"/>
          </a:p>
        </p:txBody>
      </p:sp>
      <p:sp>
        <p:nvSpPr>
          <p:cNvPr id="51" name="Shape 49"/>
          <p:cNvSpPr/>
          <p:nvPr/>
        </p:nvSpPr>
        <p:spPr>
          <a:xfrm>
            <a:off x="2828544" y="4876800"/>
            <a:ext cx="363321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Text 50"/>
          <p:cNvSpPr txBox="1"/>
          <p:nvPr/>
        </p:nvSpPr>
        <p:spPr>
          <a:xfrm>
            <a:off x="2865120" y="4608576"/>
            <a:ext cx="3535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rpc('insert_token', sha256(token), 'verify_account_email', +1h)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2865120" y="5145024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67" dirty="0"/>
          </a:p>
        </p:txBody>
      </p:sp>
      <p:sp>
        <p:nvSpPr>
          <p:cNvPr id="54" name="Shape 52"/>
          <p:cNvSpPr/>
          <p:nvPr/>
        </p:nvSpPr>
        <p:spPr>
          <a:xfrm>
            <a:off x="2828544" y="5242560"/>
            <a:ext cx="546201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Text 53"/>
          <p:cNvSpPr txBox="1"/>
          <p:nvPr/>
        </p:nvSpPr>
        <p:spPr>
          <a:xfrm>
            <a:off x="2865120" y="4974336"/>
            <a:ext cx="53644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sendVerificationEmail(email, token)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924800" y="5693664"/>
            <a:ext cx="2194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67" dirty="0"/>
          </a:p>
        </p:txBody>
      </p:sp>
      <p:sp>
        <p:nvSpPr>
          <p:cNvPr id="57" name="Shape 55"/>
          <p:cNvSpPr/>
          <p:nvPr/>
        </p:nvSpPr>
        <p:spPr>
          <a:xfrm flipH="1">
            <a:off x="975360" y="5791200"/>
            <a:ext cx="7290816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lgDash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Text 56"/>
          <p:cNvSpPr txBox="1"/>
          <p:nvPr/>
        </p:nvSpPr>
        <p:spPr>
          <a:xfrm>
            <a:off x="1036320" y="5522976"/>
            <a:ext cx="7193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link  (out-of-band)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448800" y="2438400"/>
            <a:ext cx="2438400" cy="1097280"/>
          </a:xfrm>
          <a:prstGeom prst="roundRect">
            <a:avLst>
              <a:gd name="adj" fmla="val 6667"/>
            </a:avLst>
          </a:prstGeom>
          <a:solidFill>
            <a:srgbClr val="FDF2E1"/>
          </a:solidFill>
          <a:ln w="9525">
            <a:solidFill>
              <a:srgbClr val="DFC6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Text 58"/>
          <p:cNvSpPr txBox="1"/>
          <p:nvPr/>
        </p:nvSpPr>
        <p:spPr>
          <a:xfrm>
            <a:off x="9570720" y="249936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token TTL:</a:t>
            </a:r>
            <a:endParaRPr lang="en-US" sz="933" dirty="0"/>
          </a:p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· stored as</a:t>
            </a:r>
            <a:endParaRPr lang="en-US" sz="933" dirty="0"/>
          </a:p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·</a:t>
            </a:r>
            <a:endParaRPr lang="en-US" sz="933" dirty="0"/>
          </a:p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once via</a:t>
            </a:r>
            <a:endParaRPr lang="en-US" sz="933" dirty="0"/>
          </a:p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consume_token RPC</a:t>
            </a:r>
            <a:endParaRPr lang="en-US" sz="933" dirty="0"/>
          </a:p>
        </p:txBody>
      </p:sp>
      <p:sp>
        <p:nvSpPr>
          <p:cNvPr id="61" name="Shape 59"/>
          <p:cNvSpPr/>
          <p:nvPr/>
        </p:nvSpPr>
        <p:spPr>
          <a:xfrm>
            <a:off x="9448800" y="4632960"/>
            <a:ext cx="2438400" cy="731520"/>
          </a:xfrm>
          <a:prstGeom prst="roundRect">
            <a:avLst>
              <a:gd name="adj" fmla="val 10000"/>
            </a:avLst>
          </a:prstGeom>
          <a:solidFill>
            <a:srgbClr val="FDF2E1"/>
          </a:solidFill>
          <a:ln w="9525">
            <a:solidFill>
              <a:srgbClr val="DFC6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Text 60"/>
          <p:cNvSpPr txBox="1"/>
          <p:nvPr/>
        </p:nvSpPr>
        <p:spPr>
          <a:xfrm>
            <a:off x="9570720" y="469392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canSend RPC enforces</a:t>
            </a:r>
            <a:endParaRPr lang="en-US" sz="933" dirty="0"/>
          </a:p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email rate</a:t>
            </a:r>
            <a:endParaRPr lang="en-US" sz="933" dirty="0"/>
          </a:p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before dispatch</a:t>
            </a:r>
            <a:endParaRPr lang="en-US" sz="933" dirty="0"/>
          </a:p>
        </p:txBody>
      </p:sp>
      <p:sp>
        <p:nvSpPr>
          <p:cNvPr id="63" name="Shape 61"/>
          <p:cNvSpPr/>
          <p:nvPr/>
        </p:nvSpPr>
        <p:spPr>
          <a:xfrm>
            <a:off x="365760" y="6339840"/>
            <a:ext cx="243840" cy="1828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4" name="Text 62"/>
          <p:cNvSpPr txBox="1"/>
          <p:nvPr/>
        </p:nvSpPr>
        <p:spPr>
          <a:xfrm>
            <a:off x="670560" y="6315456"/>
            <a:ext cx="97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67" dirty="0"/>
          </a:p>
        </p:txBody>
      </p:sp>
      <p:sp>
        <p:nvSpPr>
          <p:cNvPr id="65" name="Shape 63"/>
          <p:cNvSpPr/>
          <p:nvPr/>
        </p:nvSpPr>
        <p:spPr>
          <a:xfrm>
            <a:off x="1950720" y="6339840"/>
            <a:ext cx="243840" cy="182880"/>
          </a:xfrm>
          <a:prstGeom prst="rect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6" name="Text 64"/>
          <p:cNvSpPr txBox="1"/>
          <p:nvPr/>
        </p:nvSpPr>
        <p:spPr>
          <a:xfrm>
            <a:off x="2255520" y="6315456"/>
            <a:ext cx="97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67" dirty="0"/>
          </a:p>
        </p:txBody>
      </p:sp>
      <p:sp>
        <p:nvSpPr>
          <p:cNvPr id="67" name="Shape 65"/>
          <p:cNvSpPr/>
          <p:nvPr/>
        </p:nvSpPr>
        <p:spPr>
          <a:xfrm>
            <a:off x="3535680" y="6339840"/>
            <a:ext cx="243840" cy="182880"/>
          </a:xfrm>
          <a:prstGeom prst="rect">
            <a:avLst/>
          </a:prstGeom>
          <a:solidFill>
            <a:srgbClr val="6B5B3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8" name="Text 66"/>
          <p:cNvSpPr txBox="1"/>
          <p:nvPr/>
        </p:nvSpPr>
        <p:spPr>
          <a:xfrm>
            <a:off x="3840480" y="6315456"/>
            <a:ext cx="97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0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096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 — Request Processing in the Backend</a:t>
            </a:r>
            <a:endParaRPr lang="en-US" sz="2667" dirty="0"/>
          </a:p>
        </p:txBody>
      </p:sp>
      <p:sp>
        <p:nvSpPr>
          <p:cNvPr id="3" name="Shape 1"/>
          <p:cNvSpPr/>
          <p:nvPr/>
        </p:nvSpPr>
        <p:spPr>
          <a:xfrm>
            <a:off x="365760" y="573024"/>
            <a:ext cx="1463040" cy="36576"/>
          </a:xfrm>
          <a:prstGeom prst="rect">
            <a:avLst/>
          </a:prstGeom>
          <a:solidFill>
            <a:srgbClr val="1A7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920" y="707136"/>
            <a:ext cx="1584960" cy="585216"/>
          </a:xfrm>
          <a:prstGeom prst="roundRect">
            <a:avLst>
              <a:gd name="adj" fmla="val 1041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1920" y="75590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67" dirty="0"/>
          </a:p>
        </p:txBody>
      </p:sp>
      <p:sp>
        <p:nvSpPr>
          <p:cNvPr id="6" name="Text 4"/>
          <p:cNvSpPr txBox="1"/>
          <p:nvPr/>
        </p:nvSpPr>
        <p:spPr>
          <a:xfrm>
            <a:off x="121920" y="1011936"/>
            <a:ext cx="1584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signed-in user</a:t>
            </a:r>
            <a:endParaRPr lang="en-US" sz="933" dirty="0"/>
          </a:p>
        </p:txBody>
      </p:sp>
      <p:sp>
        <p:nvSpPr>
          <p:cNvPr id="7" name="Shape 5"/>
          <p:cNvSpPr/>
          <p:nvPr/>
        </p:nvSpPr>
        <p:spPr>
          <a:xfrm>
            <a:off x="1889760" y="707136"/>
            <a:ext cx="1584960" cy="585216"/>
          </a:xfrm>
          <a:prstGeom prst="roundRect">
            <a:avLst>
              <a:gd name="adj" fmla="val 10417"/>
            </a:avLst>
          </a:prstGeom>
          <a:solidFill>
            <a:srgbClr val="1A7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889760" y="75590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</a:t>
            </a:r>
            <a:endParaRPr lang="en-US" sz="1267" dirty="0"/>
          </a:p>
        </p:txBody>
      </p:sp>
      <p:sp>
        <p:nvSpPr>
          <p:cNvPr id="9" name="Text 7"/>
          <p:cNvSpPr txBox="1"/>
          <p:nvPr/>
        </p:nvSpPr>
        <p:spPr>
          <a:xfrm>
            <a:off x="1889760" y="1011936"/>
            <a:ext cx="1584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axios</a:t>
            </a:r>
            <a:endParaRPr lang="en-US" sz="933" dirty="0"/>
          </a:p>
        </p:txBody>
      </p:sp>
      <p:sp>
        <p:nvSpPr>
          <p:cNvPr id="10" name="Shape 8"/>
          <p:cNvSpPr/>
          <p:nvPr/>
        </p:nvSpPr>
        <p:spPr>
          <a:xfrm>
            <a:off x="3657600" y="707136"/>
            <a:ext cx="1584960" cy="585216"/>
          </a:xfrm>
          <a:prstGeom prst="roundRect">
            <a:avLst>
              <a:gd name="adj" fmla="val 10417"/>
            </a:avLst>
          </a:prstGeom>
          <a:solidFill>
            <a:srgbClr val="9B7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57600" y="75590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1267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011936"/>
            <a:ext cx="1584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· json · router</a:t>
            </a:r>
            <a:endParaRPr lang="en-US" sz="933" dirty="0"/>
          </a:p>
        </p:txBody>
      </p:sp>
      <p:sp>
        <p:nvSpPr>
          <p:cNvPr id="13" name="Shape 11"/>
          <p:cNvSpPr/>
          <p:nvPr/>
        </p:nvSpPr>
        <p:spPr>
          <a:xfrm>
            <a:off x="5425440" y="707136"/>
            <a:ext cx="1584960" cy="585216"/>
          </a:xfrm>
          <a:prstGeom prst="roundRect">
            <a:avLst>
              <a:gd name="adj" fmla="val 10417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25440" y="75590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Controller</a:t>
            </a:r>
            <a:endParaRPr lang="en-US" sz="1267" dirty="0"/>
          </a:p>
        </p:txBody>
      </p:sp>
      <p:sp>
        <p:nvSpPr>
          <p:cNvPr id="15" name="Text 13"/>
          <p:cNvSpPr txBox="1"/>
          <p:nvPr/>
        </p:nvSpPr>
        <p:spPr>
          <a:xfrm>
            <a:off x="5425440" y="1011936"/>
            <a:ext cx="1584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admin.controller.ts</a:t>
            </a:r>
            <a:endParaRPr lang="en-US" sz="933" dirty="0"/>
          </a:p>
        </p:txBody>
      </p:sp>
      <p:sp>
        <p:nvSpPr>
          <p:cNvPr id="16" name="Shape 14"/>
          <p:cNvSpPr/>
          <p:nvPr/>
        </p:nvSpPr>
        <p:spPr>
          <a:xfrm>
            <a:off x="7193280" y="707136"/>
            <a:ext cx="1584960" cy="585216"/>
          </a:xfrm>
          <a:prstGeom prst="roundRect">
            <a:avLst>
              <a:gd name="adj" fmla="val 10417"/>
            </a:avLst>
          </a:prstGeom>
          <a:solidFill>
            <a:srgbClr val="8E2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93280" y="755904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67" dirty="0"/>
          </a:p>
        </p:txBody>
      </p:sp>
      <p:sp>
        <p:nvSpPr>
          <p:cNvPr id="18" name="Text 16"/>
          <p:cNvSpPr txBox="1"/>
          <p:nvPr/>
        </p:nvSpPr>
        <p:spPr>
          <a:xfrm>
            <a:off x="7193280" y="1011936"/>
            <a:ext cx="1584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 + Postgres</a:t>
            </a:r>
            <a:endParaRPr lang="en-US" sz="933" dirty="0"/>
          </a:p>
        </p:txBody>
      </p:sp>
      <p:sp>
        <p:nvSpPr>
          <p:cNvPr id="19" name="Shape 17"/>
          <p:cNvSpPr/>
          <p:nvPr/>
        </p:nvSpPr>
        <p:spPr>
          <a:xfrm>
            <a:off x="914400" y="1292352"/>
            <a:ext cx="0" cy="498652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82240" y="1292352"/>
            <a:ext cx="0" cy="498652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50080" y="1292352"/>
            <a:ext cx="0" cy="498652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1292352"/>
            <a:ext cx="0" cy="498652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85760" y="1292352"/>
            <a:ext cx="0" cy="498652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960" y="1365504"/>
            <a:ext cx="8656320" cy="999744"/>
          </a:xfrm>
          <a:prstGeom prst="rect">
            <a:avLst/>
          </a:prstGeom>
          <a:solidFill>
            <a:srgbClr val="F7F3ED">
              <a:alpha val="50000"/>
            </a:srgbClr>
          </a:solidFill>
          <a:ln w="9525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960" y="1365504"/>
            <a:ext cx="987552" cy="231648"/>
          </a:xfrm>
          <a:prstGeom prst="roundRect">
            <a:avLst>
              <a:gd name="adj" fmla="val 15789"/>
            </a:avLst>
          </a:prstGeom>
          <a:solidFill>
            <a:srgbClr val="E8DCC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0960" y="136550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6B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67" dirty="0"/>
          </a:p>
        </p:txBody>
      </p:sp>
      <p:sp>
        <p:nvSpPr>
          <p:cNvPr id="27" name="Text 25"/>
          <p:cNvSpPr txBox="1"/>
          <p:nvPr/>
        </p:nvSpPr>
        <p:spPr>
          <a:xfrm>
            <a:off x="1109472" y="1377696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→ HTTP request with jwt cookie</a:t>
            </a:r>
            <a:endParaRPr lang="en-US" sz="867" dirty="0"/>
          </a:p>
        </p:txBody>
      </p:sp>
      <p:sp>
        <p:nvSpPr>
          <p:cNvPr id="28" name="Text 26"/>
          <p:cNvSpPr txBox="1"/>
          <p:nvPr/>
        </p:nvSpPr>
        <p:spPr>
          <a:xfrm>
            <a:off x="963168" y="1645920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38784" y="1743456"/>
            <a:ext cx="174345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75360" y="1438656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action (e.g. “Update</a:t>
            </a:r>
            <a:endParaRPr lang="en-US" sz="933" dirty="0"/>
          </a:p>
          <a:p>
            <a:pPr algn="ctr"/>
            <a:r>
              <a:rPr lang="en-US" sz="9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status”)</a:t>
            </a:r>
            <a:endParaRPr lang="en-US" sz="933" dirty="0"/>
          </a:p>
        </p:txBody>
      </p:sp>
      <p:sp>
        <p:nvSpPr>
          <p:cNvPr id="31" name="Text 29"/>
          <p:cNvSpPr txBox="1"/>
          <p:nvPr/>
        </p:nvSpPr>
        <p:spPr>
          <a:xfrm>
            <a:off x="2731008" y="2011680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06624" y="2109216"/>
            <a:ext cx="174345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743200" y="1804416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axios.patch</a:t>
            </a:r>
            <a:endParaRPr lang="en-US" sz="933" dirty="0"/>
          </a:p>
          <a:p>
            <a:pPr algn="ctr"/>
            <a:r>
              <a:rPr lang="en-US" sz="9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/api/admin/exercise/:id/status</a:t>
            </a:r>
            <a:endParaRPr lang="en-US" sz="933" dirty="0"/>
          </a:p>
        </p:txBody>
      </p:sp>
      <p:sp>
        <p:nvSpPr>
          <p:cNvPr id="34" name="Shape 32"/>
          <p:cNvSpPr/>
          <p:nvPr/>
        </p:nvSpPr>
        <p:spPr>
          <a:xfrm>
            <a:off x="60960" y="2438400"/>
            <a:ext cx="8656320" cy="731520"/>
          </a:xfrm>
          <a:prstGeom prst="rect">
            <a:avLst/>
          </a:prstGeom>
          <a:solidFill>
            <a:srgbClr val="F7F3ED">
              <a:alpha val="50000"/>
            </a:srgbClr>
          </a:solidFill>
          <a:ln w="9525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960" y="2438400"/>
            <a:ext cx="1085088" cy="231648"/>
          </a:xfrm>
          <a:prstGeom prst="roundRect">
            <a:avLst>
              <a:gd name="adj" fmla="val 15789"/>
            </a:avLst>
          </a:prstGeom>
          <a:solidFill>
            <a:srgbClr val="E8DCC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0960" y="2438400"/>
            <a:ext cx="108508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6B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67" dirty="0"/>
          </a:p>
        </p:txBody>
      </p:sp>
      <p:sp>
        <p:nvSpPr>
          <p:cNvPr id="37" name="Text 35"/>
          <p:cNvSpPr txBox="1"/>
          <p:nvPr/>
        </p:nvSpPr>
        <p:spPr>
          <a:xfrm>
            <a:off x="1207008" y="2450592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→ express.json → cookieParser → route match</a:t>
            </a:r>
            <a:endParaRPr lang="en-US" sz="867" dirty="0"/>
          </a:p>
        </p:txBody>
      </p:sp>
      <p:sp>
        <p:nvSpPr>
          <p:cNvPr id="38" name="Shape 36"/>
          <p:cNvSpPr/>
          <p:nvPr/>
        </p:nvSpPr>
        <p:spPr>
          <a:xfrm>
            <a:off x="4450080" y="2682240"/>
            <a:ext cx="54864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98720" y="2682240"/>
            <a:ext cx="0" cy="36576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50080" y="3048000"/>
            <a:ext cx="54864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059680" y="2706624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059680" y="2596896"/>
            <a:ext cx="426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· express.json · cookieParser · match /api/admin/...</a:t>
            </a:r>
            <a:endParaRPr lang="en-US" sz="933" dirty="0"/>
          </a:p>
        </p:txBody>
      </p:sp>
      <p:sp>
        <p:nvSpPr>
          <p:cNvPr id="43" name="Shape 41"/>
          <p:cNvSpPr/>
          <p:nvPr/>
        </p:nvSpPr>
        <p:spPr>
          <a:xfrm>
            <a:off x="60960" y="3255264"/>
            <a:ext cx="8656320" cy="633984"/>
          </a:xfrm>
          <a:prstGeom prst="rect">
            <a:avLst/>
          </a:prstGeom>
          <a:solidFill>
            <a:srgbClr val="F7F3ED">
              <a:alpha val="50000"/>
            </a:srgbClr>
          </a:solidFill>
          <a:ln w="9525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960" y="3255264"/>
            <a:ext cx="1085088" cy="231648"/>
          </a:xfrm>
          <a:prstGeom prst="roundRect">
            <a:avLst>
              <a:gd name="adj" fmla="val 15789"/>
            </a:avLst>
          </a:prstGeom>
          <a:solidFill>
            <a:srgbClr val="E8DCC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60960" y="3255264"/>
            <a:ext cx="108508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6B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867" dirty="0"/>
          </a:p>
        </p:txBody>
      </p:sp>
      <p:sp>
        <p:nvSpPr>
          <p:cNvPr id="46" name="Text 44"/>
          <p:cNvSpPr txBox="1"/>
          <p:nvPr/>
        </p:nvSpPr>
        <p:spPr>
          <a:xfrm>
            <a:off x="1207008" y="3267456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controller function for the matched route</a:t>
            </a:r>
            <a:endParaRPr lang="en-US" sz="867" dirty="0"/>
          </a:p>
        </p:txBody>
      </p:sp>
      <p:sp>
        <p:nvSpPr>
          <p:cNvPr id="47" name="Text 45"/>
          <p:cNvSpPr txBox="1"/>
          <p:nvPr/>
        </p:nvSpPr>
        <p:spPr>
          <a:xfrm>
            <a:off x="4498848" y="3499104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74464" y="3596640"/>
            <a:ext cx="174345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4511040" y="3291840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33" dirty="0"/>
          </a:p>
          <a:p>
            <a:pPr algn="ctr"/>
            <a:r>
              <a:rPr lang="en-US" sz="9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changeExerciseStatus(req, res)</a:t>
            </a:r>
            <a:endParaRPr lang="en-US" sz="933" dirty="0"/>
          </a:p>
        </p:txBody>
      </p:sp>
      <p:sp>
        <p:nvSpPr>
          <p:cNvPr id="50" name="Shape 48"/>
          <p:cNvSpPr/>
          <p:nvPr/>
        </p:nvSpPr>
        <p:spPr>
          <a:xfrm>
            <a:off x="60960" y="3974592"/>
            <a:ext cx="8656320" cy="877824"/>
          </a:xfrm>
          <a:prstGeom prst="rect">
            <a:avLst/>
          </a:prstGeom>
          <a:solidFill>
            <a:srgbClr val="F7F3ED">
              <a:alpha val="50000"/>
            </a:srgbClr>
          </a:solidFill>
          <a:ln w="9525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0960" y="3974592"/>
            <a:ext cx="597408" cy="231648"/>
          </a:xfrm>
          <a:prstGeom prst="roundRect">
            <a:avLst>
              <a:gd name="adj" fmla="val 15789"/>
            </a:avLst>
          </a:prstGeom>
          <a:solidFill>
            <a:srgbClr val="E8DCC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60960" y="3974592"/>
            <a:ext cx="5974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6B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67" dirty="0"/>
          </a:p>
        </p:txBody>
      </p:sp>
      <p:sp>
        <p:nvSpPr>
          <p:cNvPr id="53" name="Text 51"/>
          <p:cNvSpPr txBox="1"/>
          <p:nvPr/>
        </p:nvSpPr>
        <p:spPr>
          <a:xfrm>
            <a:off x="719328" y="3986784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supabase-js path — RPC  |  direct table op</a:t>
            </a:r>
            <a:endParaRPr lang="en-US" sz="867" dirty="0"/>
          </a:p>
        </p:txBody>
      </p:sp>
      <p:sp>
        <p:nvSpPr>
          <p:cNvPr id="54" name="Text 52"/>
          <p:cNvSpPr txBox="1"/>
          <p:nvPr/>
        </p:nvSpPr>
        <p:spPr>
          <a:xfrm>
            <a:off x="6266688" y="4242816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242304" y="4340352"/>
            <a:ext cx="174345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278880" y="4035552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rpc('change_admin_exercise_status', { p_exercise_id,</a:t>
            </a:r>
            <a:endParaRPr lang="en-US" sz="867" dirty="0"/>
          </a:p>
          <a:p>
            <a:pPr algn="ctr"/>
            <a:r>
              <a:rPr lang="en-US" sz="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p_access_level })</a:t>
            </a:r>
            <a:endParaRPr lang="en-US" sz="867" dirty="0"/>
          </a:p>
        </p:txBody>
      </p:sp>
      <p:sp>
        <p:nvSpPr>
          <p:cNvPr id="57" name="Text 55"/>
          <p:cNvSpPr txBox="1"/>
          <p:nvPr/>
        </p:nvSpPr>
        <p:spPr>
          <a:xfrm>
            <a:off x="6266688" y="4559808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42304" y="4657344"/>
            <a:ext cx="174345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6278880" y="4413504"/>
            <a:ext cx="1645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.from('exercise').update({ xp_need }).eq('id', :id)</a:t>
            </a:r>
            <a:endParaRPr lang="en-US" sz="867" dirty="0"/>
          </a:p>
        </p:txBody>
      </p:sp>
      <p:sp>
        <p:nvSpPr>
          <p:cNvPr id="60" name="Shape 58"/>
          <p:cNvSpPr/>
          <p:nvPr/>
        </p:nvSpPr>
        <p:spPr>
          <a:xfrm>
            <a:off x="60960" y="4937760"/>
            <a:ext cx="8656320" cy="1158240"/>
          </a:xfrm>
          <a:prstGeom prst="rect">
            <a:avLst/>
          </a:prstGeom>
          <a:solidFill>
            <a:srgbClr val="F7F3ED">
              <a:alpha val="50000"/>
            </a:srgbClr>
          </a:solidFill>
          <a:ln w="9525">
            <a:solidFill>
              <a:srgbClr val="AAAAA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960" y="4937760"/>
            <a:ext cx="1085088" cy="231648"/>
          </a:xfrm>
          <a:prstGeom prst="roundRect">
            <a:avLst>
              <a:gd name="adj" fmla="val 15789"/>
            </a:avLst>
          </a:prstGeom>
          <a:solidFill>
            <a:srgbClr val="E8DCC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60960" y="4937760"/>
            <a:ext cx="108508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6B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67" dirty="0"/>
          </a:p>
        </p:txBody>
      </p:sp>
      <p:sp>
        <p:nvSpPr>
          <p:cNvPr id="63" name="Text 61"/>
          <p:cNvSpPr txBox="1"/>
          <p:nvPr/>
        </p:nvSpPr>
        <p:spPr>
          <a:xfrm>
            <a:off x="1207008" y="4949952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result → JSON envelope back to the client</a:t>
            </a:r>
            <a:endParaRPr lang="en-US" sz="867" dirty="0"/>
          </a:p>
        </p:txBody>
      </p:sp>
      <p:sp>
        <p:nvSpPr>
          <p:cNvPr id="64" name="Text 62"/>
          <p:cNvSpPr txBox="1"/>
          <p:nvPr/>
        </p:nvSpPr>
        <p:spPr>
          <a:xfrm>
            <a:off x="7717536" y="5169408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 flipH="1">
            <a:off x="6217920" y="5266944"/>
            <a:ext cx="1743456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lg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6278880" y="5023104"/>
            <a:ext cx="1645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data, error }</a:t>
            </a:r>
            <a:endParaRPr lang="en-US" sz="933" dirty="0"/>
          </a:p>
        </p:txBody>
      </p:sp>
      <p:sp>
        <p:nvSpPr>
          <p:cNvPr id="67" name="Text 65"/>
          <p:cNvSpPr txBox="1"/>
          <p:nvPr/>
        </p:nvSpPr>
        <p:spPr>
          <a:xfrm>
            <a:off x="5949696" y="5486400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 flipH="1">
            <a:off x="2682240" y="5583936"/>
            <a:ext cx="3511296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lg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2743200" y="5279136"/>
            <a:ext cx="3413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res.json({ data, error: null })  ·  error →</a:t>
            </a:r>
            <a:endParaRPr lang="en-US" sz="867" dirty="0"/>
          </a:p>
          <a:p>
            <a:pPr algn="ctr"/>
            <a:r>
              <a:rPr lang="en-US" sz="867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handleControllerError</a:t>
            </a:r>
            <a:endParaRPr lang="en-US" sz="867" dirty="0"/>
          </a:p>
        </p:txBody>
      </p:sp>
      <p:sp>
        <p:nvSpPr>
          <p:cNvPr id="70" name="Text 68"/>
          <p:cNvSpPr txBox="1"/>
          <p:nvPr/>
        </p:nvSpPr>
        <p:spPr>
          <a:xfrm>
            <a:off x="2414016" y="5803392"/>
            <a:ext cx="207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 flipH="1">
            <a:off x="914400" y="5900928"/>
            <a:ext cx="1743456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lg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975360" y="5596128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· setState · re-</a:t>
            </a:r>
            <a:endParaRPr lang="en-US" sz="933" dirty="0"/>
          </a:p>
          <a:p>
            <a:pPr algn="ctr"/>
            <a:r>
              <a:rPr lang="en-US" sz="933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33" dirty="0"/>
          </a:p>
        </p:txBody>
      </p:sp>
      <p:sp>
        <p:nvSpPr>
          <p:cNvPr id="73" name="Shape 71"/>
          <p:cNvSpPr/>
          <p:nvPr/>
        </p:nvSpPr>
        <p:spPr>
          <a:xfrm>
            <a:off x="9144000" y="1584960"/>
            <a:ext cx="2804160" cy="670560"/>
          </a:xfrm>
          <a:prstGeom prst="roundRect">
            <a:avLst>
              <a:gd name="adj" fmla="val 10909"/>
            </a:avLst>
          </a:prstGeom>
          <a:solidFill>
            <a:srgbClr val="FDF2E1"/>
          </a:solidFill>
          <a:ln w="9525">
            <a:solidFill>
              <a:srgbClr val="DFC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9265920" y="1621536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admin routes: 3 GET · 1 POST · 4 PATCH · 1 DELETE — all mounted at /api/admin</a:t>
            </a:r>
            <a:endParaRPr lang="en-US" sz="933" dirty="0"/>
          </a:p>
        </p:txBody>
      </p:sp>
      <p:sp>
        <p:nvSpPr>
          <p:cNvPr id="75" name="Shape 73"/>
          <p:cNvSpPr/>
          <p:nvPr/>
        </p:nvSpPr>
        <p:spPr>
          <a:xfrm>
            <a:off x="9144000" y="3596640"/>
            <a:ext cx="2804160" cy="853440"/>
          </a:xfrm>
          <a:prstGeom prst="roundRect">
            <a:avLst>
              <a:gd name="adj" fmla="val 8571"/>
            </a:avLst>
          </a:prstGeom>
          <a:solidFill>
            <a:srgbClr val="FDF2E1"/>
          </a:solidFill>
          <a:ln w="9525">
            <a:solidFill>
              <a:srgbClr val="DFC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9265920" y="3633216"/>
            <a:ext cx="25603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9 endpoints go through Supabase RPCs prefixed admin_* / change_admin_* — the rest hit tables directly</a:t>
            </a:r>
            <a:endParaRPr lang="en-US" sz="933" dirty="0"/>
          </a:p>
        </p:txBody>
      </p:sp>
      <p:sp>
        <p:nvSpPr>
          <p:cNvPr id="77" name="Shape 75"/>
          <p:cNvSpPr/>
          <p:nvPr/>
        </p:nvSpPr>
        <p:spPr>
          <a:xfrm>
            <a:off x="9144000" y="5303520"/>
            <a:ext cx="2804160" cy="853440"/>
          </a:xfrm>
          <a:prstGeom prst="roundRect">
            <a:avLst>
              <a:gd name="adj" fmla="val 8571"/>
            </a:avLst>
          </a:prstGeom>
          <a:solidFill>
            <a:srgbClr val="FDF2E1"/>
          </a:solidFill>
          <a:ln w="9525">
            <a:solidFill>
              <a:srgbClr val="DFC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 txBox="1"/>
          <p:nvPr/>
        </p:nvSpPr>
        <p:spPr>
          <a:xfrm>
            <a:off x="9265920" y="5340096"/>
            <a:ext cx="25603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B4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wrap Supabase errors and thrown exceptions in handleControllerError → consistent { data, error } envelope</a:t>
            </a:r>
            <a:endParaRPr lang="en-US" sz="933" dirty="0"/>
          </a:p>
        </p:txBody>
      </p:sp>
      <p:sp>
        <p:nvSpPr>
          <p:cNvPr id="79" name="Shape 77"/>
          <p:cNvSpPr/>
          <p:nvPr/>
        </p:nvSpPr>
        <p:spPr>
          <a:xfrm>
            <a:off x="365760" y="6400800"/>
            <a:ext cx="219456" cy="158496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646176" y="6376416"/>
            <a:ext cx="914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828800" y="6400800"/>
            <a:ext cx="219456" cy="158496"/>
          </a:xfrm>
          <a:prstGeom prst="rect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 txBox="1"/>
          <p:nvPr/>
        </p:nvSpPr>
        <p:spPr>
          <a:xfrm>
            <a:off x="2109216" y="6376416"/>
            <a:ext cx="914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91840" y="6400800"/>
            <a:ext cx="219456" cy="158496"/>
          </a:xfrm>
          <a:prstGeom prst="rect">
            <a:avLst/>
          </a:prstGeom>
          <a:solidFill>
            <a:srgbClr val="6B5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3572256" y="6376416"/>
            <a:ext cx="914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20040" y="164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 — Part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auth · content model · maps &amp; subscriptions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/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326880" y="53035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491472" y="457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104120" y="53035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268712" y="457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81360" y="53035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1045952" y="457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868680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86868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99669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" y="87782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1124712"/>
            <a:ext cx="260604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" y="1170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" y="112471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707642" y="112471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31673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" y="131673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07642" y="131673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1508760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75488" y="1508760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707642" y="1508760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NOT NULL UNIQUE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1700784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75488" y="1700784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707642" y="1700784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NOT NULL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1892808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5488" y="1892808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707642" y="1892808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DEFAULT 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084832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75488" y="208483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is_verified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707642" y="208483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227685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2276856"/>
            <a:ext cx="260604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9184" y="2322576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75488" y="227685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active_status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707642" y="227685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user_active_status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2880360"/>
            <a:ext cx="260604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4320" y="288036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00837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384048" y="288950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74320" y="3136392"/>
            <a:ext cx="260604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9184" y="318211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75488" y="313639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707642" y="313639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PK → users(id)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08960" y="868680"/>
            <a:ext cx="2514600" cy="121615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108960" y="868680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108960" y="996696"/>
            <a:ext cx="251460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3218688" y="877824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108960" y="1124712"/>
            <a:ext cx="25146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163824" y="1170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3310128" y="1124712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491990" y="1124712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108960" y="1316736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3310128" y="1316736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491990" y="1316736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NOT NULL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108960" y="1508760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108960" y="1508760"/>
            <a:ext cx="251460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163824" y="155448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3310128" y="1508760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token_type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4491990" y="1508760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token_type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108960" y="1700784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3310128" y="1700784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expires_at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4491990" y="1700784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108960" y="1892808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3310128" y="1892808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revoked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491990" y="1892808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DEFAULT false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108960" y="2331720"/>
            <a:ext cx="2514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108960" y="2331720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108960" y="2459736"/>
            <a:ext cx="251460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3218688" y="2340864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users_tokens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3108960" y="2587752"/>
            <a:ext cx="251460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3163824" y="26334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3310128" y="2587752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4491990" y="2587752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108960" y="2779776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108960" y="2779776"/>
            <a:ext cx="251460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163824" y="282549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 txBox="1"/>
          <p:nvPr/>
        </p:nvSpPr>
        <p:spPr>
          <a:xfrm>
            <a:off x="3310128" y="2779776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token_id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4491990" y="2779776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tokens(id)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108960" y="3200400"/>
            <a:ext cx="251460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108960" y="3200400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108960" y="3328416"/>
            <a:ext cx="251460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3218688" y="3209544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3108960" y="3456432"/>
            <a:ext cx="25146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163824" y="350215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 txBox="1"/>
          <p:nvPr/>
        </p:nvSpPr>
        <p:spPr>
          <a:xfrm>
            <a:off x="3310128" y="3456432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4491990" y="3456432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108960" y="3648456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 txBox="1"/>
          <p:nvPr/>
        </p:nvSpPr>
        <p:spPr>
          <a:xfrm>
            <a:off x="3310128" y="3648456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4491990" y="3648456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108960" y="3840480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 txBox="1"/>
          <p:nvPr/>
        </p:nvSpPr>
        <p:spPr>
          <a:xfrm>
            <a:off x="3310128" y="3840480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4491990" y="3840480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852160" y="868680"/>
            <a:ext cx="2880360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852160" y="868680"/>
            <a:ext cx="288036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852160" y="996696"/>
            <a:ext cx="288036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 txBox="1"/>
          <p:nvPr/>
        </p:nvSpPr>
        <p:spPr>
          <a:xfrm>
            <a:off x="5961888" y="877824"/>
            <a:ext cx="2660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5852160" y="1124712"/>
            <a:ext cx="288036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907024" y="1170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 txBox="1"/>
          <p:nvPr/>
        </p:nvSpPr>
        <p:spPr>
          <a:xfrm>
            <a:off x="6053328" y="1124712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04" name="Text 102"/>
          <p:cNvSpPr txBox="1"/>
          <p:nvPr/>
        </p:nvSpPr>
        <p:spPr>
          <a:xfrm>
            <a:off x="7436358" y="1124712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852160" y="1316736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 txBox="1"/>
          <p:nvPr/>
        </p:nvSpPr>
        <p:spPr>
          <a:xfrm>
            <a:off x="6053328" y="1316736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7436358" y="1316736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852160" y="1508760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 txBox="1"/>
          <p:nvPr/>
        </p:nvSpPr>
        <p:spPr>
          <a:xfrm>
            <a:off x="6053328" y="1508760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7436358" y="1508760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852160" y="1700784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852160" y="1700784"/>
            <a:ext cx="288036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907024" y="174650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 txBox="1"/>
          <p:nvPr/>
        </p:nvSpPr>
        <p:spPr>
          <a:xfrm>
            <a:off x="6053328" y="1700784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7436358" y="1700784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exercise_difficulty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852160" y="1892808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5852160" y="1892808"/>
            <a:ext cx="288036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907024" y="19385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 txBox="1"/>
          <p:nvPr/>
        </p:nvSpPr>
        <p:spPr>
          <a:xfrm>
            <a:off x="6053328" y="1892808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7436358" y="1892808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exercise_status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852160" y="2084832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852160" y="2084832"/>
            <a:ext cx="288036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907024" y="213055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 txBox="1"/>
          <p:nvPr/>
        </p:nvSpPr>
        <p:spPr>
          <a:xfrm>
            <a:off x="6053328" y="2084832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access_level</a:t>
            </a:r>
            <a:endParaRPr lang="en-US" sz="900" dirty="0"/>
          </a:p>
        </p:txBody>
      </p:sp>
      <p:sp>
        <p:nvSpPr>
          <p:cNvPr id="125" name="Text 123"/>
          <p:cNvSpPr txBox="1"/>
          <p:nvPr/>
        </p:nvSpPr>
        <p:spPr>
          <a:xfrm>
            <a:off x="7436358" y="2084832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exercise_access_level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5852160" y="2276856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852160" y="2276856"/>
            <a:ext cx="288036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907024" y="232257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 txBox="1"/>
          <p:nvPr/>
        </p:nvSpPr>
        <p:spPr>
          <a:xfrm>
            <a:off x="6053328" y="2276856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instructor_id</a:t>
            </a:r>
            <a:endParaRPr lang="en-US" sz="900" dirty="0"/>
          </a:p>
        </p:txBody>
      </p:sp>
      <p:sp>
        <p:nvSpPr>
          <p:cNvPr id="130" name="Text 128"/>
          <p:cNvSpPr txBox="1"/>
          <p:nvPr/>
        </p:nvSpPr>
        <p:spPr>
          <a:xfrm>
            <a:off x="7436358" y="2276856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5852160" y="2468880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 txBox="1"/>
          <p:nvPr/>
        </p:nvSpPr>
        <p:spPr>
          <a:xfrm>
            <a:off x="6053328" y="2468880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xp_need</a:t>
            </a:r>
            <a:endParaRPr lang="en-US" sz="900" dirty="0"/>
          </a:p>
        </p:txBody>
      </p:sp>
      <p:sp>
        <p:nvSpPr>
          <p:cNvPr id="133" name="Text 131"/>
          <p:cNvSpPr txBox="1"/>
          <p:nvPr/>
        </p:nvSpPr>
        <p:spPr>
          <a:xfrm>
            <a:off x="7436358" y="2468880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961120" y="868680"/>
            <a:ext cx="29260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8961120" y="86868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8961120" y="996696"/>
            <a:ext cx="292608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 txBox="1"/>
          <p:nvPr/>
        </p:nvSpPr>
        <p:spPr>
          <a:xfrm>
            <a:off x="9070848" y="877824"/>
            <a:ext cx="2706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</a:t>
            </a:r>
            <a:endParaRPr lang="en-US" sz="1150" dirty="0"/>
          </a:p>
        </p:txBody>
      </p:sp>
      <p:sp>
        <p:nvSpPr>
          <p:cNvPr id="138" name="Shape 136"/>
          <p:cNvSpPr/>
          <p:nvPr/>
        </p:nvSpPr>
        <p:spPr>
          <a:xfrm>
            <a:off x="8961120" y="1124712"/>
            <a:ext cx="292608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9015984" y="1170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 txBox="1"/>
          <p:nvPr/>
        </p:nvSpPr>
        <p:spPr>
          <a:xfrm>
            <a:off x="9162288" y="1124712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41" name="Text 139"/>
          <p:cNvSpPr txBox="1"/>
          <p:nvPr/>
        </p:nvSpPr>
        <p:spPr>
          <a:xfrm>
            <a:off x="10570464" y="1124712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8961120" y="1316736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 txBox="1"/>
          <p:nvPr/>
        </p:nvSpPr>
        <p:spPr>
          <a:xfrm>
            <a:off x="9162288" y="1316736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144" name="Text 142"/>
          <p:cNvSpPr txBox="1"/>
          <p:nvPr/>
        </p:nvSpPr>
        <p:spPr>
          <a:xfrm>
            <a:off x="10570464" y="1316736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NOT NULL UNIQUE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8961120" y="1508760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 txBox="1"/>
          <p:nvPr/>
        </p:nvSpPr>
        <p:spPr>
          <a:xfrm>
            <a:off x="9162288" y="1508760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exercises_id</a:t>
            </a:r>
            <a:endParaRPr lang="en-US" sz="900" dirty="0"/>
          </a:p>
        </p:txBody>
      </p:sp>
      <p:sp>
        <p:nvSpPr>
          <p:cNvPr id="147" name="Text 145"/>
          <p:cNvSpPr txBox="1"/>
          <p:nvPr/>
        </p:nvSpPr>
        <p:spPr>
          <a:xfrm>
            <a:off x="10570464" y="1508760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BIGINT[] DEFAULT '{}'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8961120" y="1700784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 txBox="1"/>
          <p:nvPr/>
        </p:nvSpPr>
        <p:spPr>
          <a:xfrm>
            <a:off x="9162288" y="1700784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image_url</a:t>
            </a:r>
            <a:endParaRPr lang="en-US" sz="900" dirty="0"/>
          </a:p>
        </p:txBody>
      </p:sp>
      <p:sp>
        <p:nvSpPr>
          <p:cNvPr id="150" name="Text 148"/>
          <p:cNvSpPr txBox="1"/>
          <p:nvPr/>
        </p:nvSpPr>
        <p:spPr>
          <a:xfrm>
            <a:off x="10570464" y="1700784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8961120" y="2423160"/>
            <a:ext cx="29260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8961120" y="242316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8961120" y="2551176"/>
            <a:ext cx="292608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 txBox="1"/>
          <p:nvPr/>
        </p:nvSpPr>
        <p:spPr>
          <a:xfrm>
            <a:off x="9070848" y="2432304"/>
            <a:ext cx="2706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map_subscription</a:t>
            </a:r>
            <a:endParaRPr lang="en-US" sz="1150" dirty="0"/>
          </a:p>
        </p:txBody>
      </p:sp>
      <p:sp>
        <p:nvSpPr>
          <p:cNvPr id="155" name="Shape 153"/>
          <p:cNvSpPr/>
          <p:nvPr/>
        </p:nvSpPr>
        <p:spPr>
          <a:xfrm>
            <a:off x="8961120" y="2679192"/>
            <a:ext cx="292608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9015984" y="272491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 txBox="1"/>
          <p:nvPr/>
        </p:nvSpPr>
        <p:spPr>
          <a:xfrm>
            <a:off x="9162288" y="2679192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58" name="Text 156"/>
          <p:cNvSpPr txBox="1"/>
          <p:nvPr/>
        </p:nvSpPr>
        <p:spPr>
          <a:xfrm>
            <a:off x="10570464" y="2679192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8961120" y="2871216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961120" y="2871216"/>
            <a:ext cx="292608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9015984" y="291693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 txBox="1"/>
          <p:nvPr/>
        </p:nvSpPr>
        <p:spPr>
          <a:xfrm>
            <a:off x="9162288" y="2871216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163" name="Text 161"/>
          <p:cNvSpPr txBox="1"/>
          <p:nvPr/>
        </p:nvSpPr>
        <p:spPr>
          <a:xfrm>
            <a:off x="10570464" y="2871216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8961120" y="3063240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8961120" y="3063240"/>
            <a:ext cx="292608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9015984" y="310896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 txBox="1"/>
          <p:nvPr/>
        </p:nvSpPr>
        <p:spPr>
          <a:xfrm>
            <a:off x="9162288" y="3063240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map_id</a:t>
            </a:r>
            <a:endParaRPr lang="en-US" sz="900" dirty="0"/>
          </a:p>
        </p:txBody>
      </p:sp>
      <p:sp>
        <p:nvSpPr>
          <p:cNvPr id="168" name="Text 166"/>
          <p:cNvSpPr txBox="1"/>
          <p:nvPr/>
        </p:nvSpPr>
        <p:spPr>
          <a:xfrm>
            <a:off x="10570464" y="3063240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maps(id)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8961120" y="3255264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8961120" y="3255264"/>
            <a:ext cx="292608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9015984" y="330098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 txBox="1"/>
          <p:nvPr/>
        </p:nvSpPr>
        <p:spPr>
          <a:xfrm>
            <a:off x="9162288" y="3255264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173" name="Text 171"/>
          <p:cNvSpPr txBox="1"/>
          <p:nvPr/>
        </p:nvSpPr>
        <p:spPr>
          <a:xfrm>
            <a:off x="10570464" y="3255264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map_subscription_status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8961120" y="3447288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 txBox="1"/>
          <p:nvPr/>
        </p:nvSpPr>
        <p:spPr>
          <a:xfrm>
            <a:off x="9162288" y="3447288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price_paid</a:t>
            </a:r>
            <a:endParaRPr lang="en-US" sz="900" dirty="0"/>
          </a:p>
        </p:txBody>
      </p:sp>
      <p:sp>
        <p:nvSpPr>
          <p:cNvPr id="176" name="Text 174"/>
          <p:cNvSpPr txBox="1"/>
          <p:nvPr/>
        </p:nvSpPr>
        <p:spPr>
          <a:xfrm>
            <a:off x="10570464" y="3447288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DEFAULT 0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8961120" y="3639312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 txBox="1"/>
          <p:nvPr/>
        </p:nvSpPr>
        <p:spPr>
          <a:xfrm>
            <a:off x="9162288" y="3639312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started_at</a:t>
            </a:r>
            <a:endParaRPr lang="en-US" sz="900" dirty="0"/>
          </a:p>
        </p:txBody>
      </p:sp>
      <p:sp>
        <p:nvSpPr>
          <p:cNvPr id="179" name="Text 177"/>
          <p:cNvSpPr txBox="1"/>
          <p:nvPr/>
        </p:nvSpPr>
        <p:spPr>
          <a:xfrm>
            <a:off x="10570464" y="3639312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8961120" y="3831336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 txBox="1"/>
          <p:nvPr/>
        </p:nvSpPr>
        <p:spPr>
          <a:xfrm>
            <a:off x="9162288" y="3831336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expires_at</a:t>
            </a:r>
            <a:endParaRPr lang="en-US" sz="900" dirty="0"/>
          </a:p>
        </p:txBody>
      </p:sp>
      <p:sp>
        <p:nvSpPr>
          <p:cNvPr id="182" name="Text 180"/>
          <p:cNvSpPr txBox="1"/>
          <p:nvPr/>
        </p:nvSpPr>
        <p:spPr>
          <a:xfrm>
            <a:off x="10570464" y="3831336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8961120" y="4709160"/>
            <a:ext cx="292608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8961120" y="470916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8961120" y="4837176"/>
            <a:ext cx="292608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 txBox="1"/>
          <p:nvPr/>
        </p:nvSpPr>
        <p:spPr>
          <a:xfrm>
            <a:off x="9070848" y="4718304"/>
            <a:ext cx="2706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exercise_unlocked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8961120" y="4965192"/>
            <a:ext cx="292608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9015984" y="501091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187"/>
          <p:cNvSpPr txBox="1"/>
          <p:nvPr/>
        </p:nvSpPr>
        <p:spPr>
          <a:xfrm>
            <a:off x="9162288" y="4965192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90" name="Text 188"/>
          <p:cNvSpPr txBox="1"/>
          <p:nvPr/>
        </p:nvSpPr>
        <p:spPr>
          <a:xfrm>
            <a:off x="10570464" y="4965192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8961120" y="5157216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8961120" y="5157216"/>
            <a:ext cx="292608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9015984" y="520293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 txBox="1"/>
          <p:nvPr/>
        </p:nvSpPr>
        <p:spPr>
          <a:xfrm>
            <a:off x="9162288" y="5157216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195" name="Text 193"/>
          <p:cNvSpPr txBox="1"/>
          <p:nvPr/>
        </p:nvSpPr>
        <p:spPr>
          <a:xfrm>
            <a:off x="10570464" y="5157216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8961120" y="5349240"/>
            <a:ext cx="29260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8961120" y="5349240"/>
            <a:ext cx="292608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9015984" y="539496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 txBox="1"/>
          <p:nvPr/>
        </p:nvSpPr>
        <p:spPr>
          <a:xfrm>
            <a:off x="9162288" y="5349240"/>
            <a:ext cx="1408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exercise_id</a:t>
            </a:r>
            <a:endParaRPr lang="en-US" sz="900" dirty="0"/>
          </a:p>
        </p:txBody>
      </p:sp>
      <p:sp>
        <p:nvSpPr>
          <p:cNvPr id="200" name="Text 198"/>
          <p:cNvSpPr txBox="1"/>
          <p:nvPr/>
        </p:nvSpPr>
        <p:spPr>
          <a:xfrm>
            <a:off x="10570464" y="5349240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exercise(id)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274320" y="4709160"/>
            <a:ext cx="26060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274320" y="470916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274320" y="483717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 txBox="1"/>
          <p:nvPr/>
        </p:nvSpPr>
        <p:spPr>
          <a:xfrm>
            <a:off x="384048" y="471830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email_rules</a:t>
            </a:r>
            <a:endParaRPr lang="en-US" sz="1150" dirty="0"/>
          </a:p>
        </p:txBody>
      </p:sp>
      <p:sp>
        <p:nvSpPr>
          <p:cNvPr id="205" name="Shape 203"/>
          <p:cNvSpPr/>
          <p:nvPr/>
        </p:nvSpPr>
        <p:spPr>
          <a:xfrm>
            <a:off x="274320" y="4965192"/>
            <a:ext cx="260604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329184" y="501091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05"/>
          <p:cNvSpPr txBox="1"/>
          <p:nvPr/>
        </p:nvSpPr>
        <p:spPr>
          <a:xfrm>
            <a:off x="475488" y="496519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208" name="Text 206"/>
          <p:cNvSpPr txBox="1"/>
          <p:nvPr/>
        </p:nvSpPr>
        <p:spPr>
          <a:xfrm>
            <a:off x="1707642" y="496519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274320" y="515721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274320" y="5157216"/>
            <a:ext cx="260604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329184" y="5202936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0"/>
          <p:cNvSpPr txBox="1"/>
          <p:nvPr/>
        </p:nvSpPr>
        <p:spPr>
          <a:xfrm>
            <a:off x="475488" y="515721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usage_case</a:t>
            </a:r>
            <a:endParaRPr lang="en-US" sz="900" dirty="0"/>
          </a:p>
        </p:txBody>
      </p:sp>
      <p:sp>
        <p:nvSpPr>
          <p:cNvPr id="213" name="Text 211"/>
          <p:cNvSpPr txBox="1"/>
          <p:nvPr/>
        </p:nvSpPr>
        <p:spPr>
          <a:xfrm>
            <a:off x="1707642" y="515721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email_usage_case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274320" y="5349240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213"/>
          <p:cNvSpPr txBox="1"/>
          <p:nvPr/>
        </p:nvSpPr>
        <p:spPr>
          <a:xfrm>
            <a:off x="475488" y="5349240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max_per_day</a:t>
            </a:r>
            <a:endParaRPr lang="en-US" sz="900" dirty="0"/>
          </a:p>
        </p:txBody>
      </p:sp>
      <p:sp>
        <p:nvSpPr>
          <p:cNvPr id="216" name="Text 214"/>
          <p:cNvSpPr txBox="1"/>
          <p:nvPr/>
        </p:nvSpPr>
        <p:spPr>
          <a:xfrm>
            <a:off x="1707642" y="5349240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DEFAULT 3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274320" y="5541264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274320" y="5541264"/>
            <a:ext cx="260604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329184" y="558698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218"/>
          <p:cNvSpPr txBox="1"/>
          <p:nvPr/>
        </p:nvSpPr>
        <p:spPr>
          <a:xfrm>
            <a:off x="475488" y="5541264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cooldown_unit</a:t>
            </a:r>
            <a:endParaRPr lang="en-US" sz="900" dirty="0"/>
          </a:p>
        </p:txBody>
      </p:sp>
      <p:sp>
        <p:nvSpPr>
          <p:cNvPr id="221" name="Text 219"/>
          <p:cNvSpPr txBox="1"/>
          <p:nvPr/>
        </p:nvSpPr>
        <p:spPr>
          <a:xfrm>
            <a:off x="1707642" y="5541264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time_unit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3108960" y="5120640"/>
            <a:ext cx="251460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3108960" y="5120640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3108960" y="5248656"/>
            <a:ext cx="251460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223"/>
          <p:cNvSpPr txBox="1"/>
          <p:nvPr/>
        </p:nvSpPr>
        <p:spPr>
          <a:xfrm>
            <a:off x="3218688" y="5129784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email_logs</a:t>
            </a:r>
            <a:endParaRPr lang="en-US" sz="1150" dirty="0"/>
          </a:p>
        </p:txBody>
      </p:sp>
      <p:sp>
        <p:nvSpPr>
          <p:cNvPr id="226" name="Shape 224"/>
          <p:cNvSpPr/>
          <p:nvPr/>
        </p:nvSpPr>
        <p:spPr>
          <a:xfrm>
            <a:off x="3108960" y="5376672"/>
            <a:ext cx="251460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3163824" y="54223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226"/>
          <p:cNvSpPr txBox="1"/>
          <p:nvPr/>
        </p:nvSpPr>
        <p:spPr>
          <a:xfrm>
            <a:off x="3310128" y="5376672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229" name="Text 227"/>
          <p:cNvSpPr txBox="1"/>
          <p:nvPr/>
        </p:nvSpPr>
        <p:spPr>
          <a:xfrm>
            <a:off x="4491990" y="5376672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230" name="Shape 228"/>
          <p:cNvSpPr/>
          <p:nvPr/>
        </p:nvSpPr>
        <p:spPr>
          <a:xfrm>
            <a:off x="3108960" y="5568696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3108960" y="5568696"/>
            <a:ext cx="251460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3163824" y="561441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231"/>
          <p:cNvSpPr txBox="1"/>
          <p:nvPr/>
        </p:nvSpPr>
        <p:spPr>
          <a:xfrm>
            <a:off x="3310128" y="5568696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usage_case</a:t>
            </a:r>
            <a:endParaRPr lang="en-US" sz="900" dirty="0"/>
          </a:p>
        </p:txBody>
      </p:sp>
      <p:sp>
        <p:nvSpPr>
          <p:cNvPr id="234" name="Text 232"/>
          <p:cNvSpPr txBox="1"/>
          <p:nvPr/>
        </p:nvSpPr>
        <p:spPr>
          <a:xfrm>
            <a:off x="4491990" y="5568696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email_rules(id)</a:t>
            </a:r>
            <a:endParaRPr lang="en-US" sz="800" dirty="0"/>
          </a:p>
        </p:txBody>
      </p:sp>
      <p:sp>
        <p:nvSpPr>
          <p:cNvPr id="235" name="Shape 233"/>
          <p:cNvSpPr/>
          <p:nvPr/>
        </p:nvSpPr>
        <p:spPr>
          <a:xfrm>
            <a:off x="3108960" y="5760720"/>
            <a:ext cx="251460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234"/>
          <p:cNvSpPr txBox="1"/>
          <p:nvPr/>
        </p:nvSpPr>
        <p:spPr>
          <a:xfrm>
            <a:off x="3310128" y="5760720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sent_at</a:t>
            </a:r>
            <a:endParaRPr lang="en-US" sz="900" dirty="0"/>
          </a:p>
        </p:txBody>
      </p:sp>
      <p:sp>
        <p:nvSpPr>
          <p:cNvPr id="237" name="Text 235"/>
          <p:cNvSpPr txBox="1"/>
          <p:nvPr/>
        </p:nvSpPr>
        <p:spPr>
          <a:xfrm>
            <a:off x="4491990" y="5760720"/>
            <a:ext cx="10584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 now()</a:t>
            </a:r>
            <a:endParaRPr lang="en-US" sz="800" dirty="0"/>
          </a:p>
        </p:txBody>
      </p:sp>
      <p:sp>
        <p:nvSpPr>
          <p:cNvPr id="238" name="Shape 236"/>
          <p:cNvSpPr/>
          <p:nvPr/>
        </p:nvSpPr>
        <p:spPr>
          <a:xfrm>
            <a:off x="1577340" y="2468880"/>
            <a:ext cx="0" cy="41148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1513332" y="2542032"/>
            <a:ext cx="1280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1513332" y="2807208"/>
            <a:ext cx="1280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2880360" y="1257300"/>
            <a:ext cx="2286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3108960" y="1257300"/>
            <a:ext cx="0" cy="142646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3017520" y="1193292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3035808" y="2564892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 flipH="1">
            <a:off x="3108960" y="2564892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3035808" y="2537460"/>
            <a:ext cx="14630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4366260" y="2084832"/>
            <a:ext cx="0" cy="246888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4302252" y="2157984"/>
            <a:ext cx="12801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4293108" y="2212848"/>
            <a:ext cx="73152" cy="11887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 flipH="1">
            <a:off x="4366260" y="2212848"/>
            <a:ext cx="73152" cy="11887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4293108" y="2185416"/>
            <a:ext cx="14630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2880360" y="1220724"/>
            <a:ext cx="2743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5623560" y="1220724"/>
            <a:ext cx="0" cy="174650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5623560" y="2967228"/>
            <a:ext cx="3337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3017520" y="1156716"/>
            <a:ext cx="0" cy="12801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8842248" y="2894076"/>
            <a:ext cx="118872" cy="7315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 flipH="1">
            <a:off x="8842248" y="2967228"/>
            <a:ext cx="118872" cy="7315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814816" y="2894076"/>
            <a:ext cx="0" cy="14630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0424160" y="1892808"/>
            <a:ext cx="0" cy="530352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10360152" y="1965960"/>
            <a:ext cx="12801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10351008" y="2304288"/>
            <a:ext cx="73152" cy="11887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 flipH="1">
            <a:off x="10424160" y="2304288"/>
            <a:ext cx="73152" cy="11887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10351008" y="2276856"/>
            <a:ext cx="14630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2880360" y="1357884"/>
            <a:ext cx="22860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3114923" y="1357884"/>
            <a:ext cx="0" cy="3895344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6" name="Shape 264"/>
          <p:cNvSpPr/>
          <p:nvPr/>
        </p:nvSpPr>
        <p:spPr>
          <a:xfrm>
            <a:off x="3114923" y="5248656"/>
            <a:ext cx="5846197" cy="457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7" name="Shape 265"/>
          <p:cNvSpPr/>
          <p:nvPr/>
        </p:nvSpPr>
        <p:spPr>
          <a:xfrm>
            <a:off x="3017520" y="1293876"/>
            <a:ext cx="0" cy="12801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8842248" y="5180076"/>
            <a:ext cx="118872" cy="7315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 flipH="1">
            <a:off x="8842248" y="5253228"/>
            <a:ext cx="118872" cy="7315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814816" y="5180076"/>
            <a:ext cx="0" cy="14630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732520" y="1220724"/>
            <a:ext cx="4572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8778240" y="1220724"/>
            <a:ext cx="0" cy="4224528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8778240" y="5445252"/>
            <a:ext cx="18288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8741898" y="1165860"/>
            <a:ext cx="0" cy="128016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5" name="Shape 273"/>
          <p:cNvSpPr/>
          <p:nvPr/>
        </p:nvSpPr>
        <p:spPr>
          <a:xfrm>
            <a:off x="8842248" y="5372100"/>
            <a:ext cx="118872" cy="7315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 flipH="1">
            <a:off x="8842248" y="5445252"/>
            <a:ext cx="118872" cy="7315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8814816" y="5372100"/>
            <a:ext cx="0" cy="146304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2953512" y="1193292"/>
            <a:ext cx="0" cy="310438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2953512" y="4297680"/>
            <a:ext cx="2898648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5852160" y="2372868"/>
            <a:ext cx="0" cy="1924812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2889504" y="1293876"/>
            <a:ext cx="12801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 flipH="1">
            <a:off x="5779008" y="2372868"/>
            <a:ext cx="73152" cy="11887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5852160" y="2372868"/>
            <a:ext cx="73152" cy="11887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5779008" y="2519172"/>
            <a:ext cx="14630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2953512" y="1476756"/>
            <a:ext cx="0" cy="3003804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2953512" y="5472684"/>
            <a:ext cx="155448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1284732" y="2542032"/>
            <a:ext cx="12801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2990088" y="5399532"/>
            <a:ext cx="118872" cy="7315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 flipH="1">
            <a:off x="2990088" y="5472684"/>
            <a:ext cx="118872" cy="7315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2962656" y="5399532"/>
            <a:ext cx="0" cy="146304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2880360" y="5061204"/>
            <a:ext cx="9144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2971800" y="5061204"/>
            <a:ext cx="0" cy="603504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2971800" y="5664708"/>
            <a:ext cx="1371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2889504" y="4997196"/>
            <a:ext cx="0" cy="128016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2990088" y="5591556"/>
            <a:ext cx="118872" cy="7315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 flipH="1">
            <a:off x="2990088" y="5664708"/>
            <a:ext cx="118872" cy="7315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962656" y="5591556"/>
            <a:ext cx="0" cy="146304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8961120" y="1947672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Text 297"/>
          <p:cNvSpPr txBox="1"/>
          <p:nvPr/>
        </p:nvSpPr>
        <p:spPr>
          <a:xfrm>
            <a:off x="8961120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exercises_id ↝ exercise.id (array FK, N:N)</a:t>
            </a:r>
            <a:endParaRPr lang="en-US" sz="750" dirty="0"/>
          </a:p>
        </p:txBody>
      </p:sp>
      <p:sp>
        <p:nvSpPr>
          <p:cNvPr id="300" name="Text 298"/>
          <p:cNvSpPr txBox="1"/>
          <p:nvPr/>
        </p:nvSpPr>
        <p:spPr>
          <a:xfrm>
            <a:off x="320040" y="653796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surrogate BIGINT IDENTITY · FK enforced with REFERENCES · Crow’s foot notation:  │─ = one   ─&lt;  = many · ENUM columns use Postgres CREATE TYPE</a:t>
            </a:r>
            <a:endParaRPr lang="en-US" sz="850" dirty="0"/>
          </a:p>
        </p:txBody>
      </p:sp>
      <p:sp>
        <p:nvSpPr>
          <p:cNvPr id="302" name="Shape 283">
            <a:extLst>
              <a:ext uri="{FF2B5EF4-FFF2-40B4-BE49-F238E27FC236}">
                <a16:creationId xmlns:a16="http://schemas.microsoft.com/office/drawing/2014/main" id="{2E805DA6-D447-FE2D-9FAE-D46BE115BAE0}"/>
              </a:ext>
            </a:extLst>
          </p:cNvPr>
          <p:cNvSpPr/>
          <p:nvPr/>
        </p:nvSpPr>
        <p:spPr>
          <a:xfrm flipH="1">
            <a:off x="2952948" y="3841242"/>
            <a:ext cx="3612" cy="150799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20040" y="164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 — Part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XP · user progress · taxonomy junction tables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/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326880" y="53035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491472" y="457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104120" y="53035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268712" y="457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81360" y="53035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1045952" y="457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868680"/>
            <a:ext cx="2606040" cy="121615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86868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99669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" y="87782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1124712"/>
            <a:ext cx="260604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" y="1170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" y="112471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707642" y="112471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31673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" y="131673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07642" y="131673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1508760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75488" y="1508760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707642" y="1508760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1700784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75488" y="1700784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challenge_lvls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707642" y="1700784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DEFAULT 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1892808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5488" y="1892808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707642" y="1892808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DEFAULT false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926080"/>
            <a:ext cx="2606040" cy="1408176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05409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384048" y="293522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user_games_attempts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3182112"/>
            <a:ext cx="260604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9184" y="32278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75488" y="318211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707642" y="318211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37413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4320" y="3374136"/>
            <a:ext cx="260604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9184" y="341985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75488" y="337413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707642" y="337413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566160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3566160"/>
            <a:ext cx="260604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9184" y="361188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475488" y="3566160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game_id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707642" y="3566160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games(id)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3758184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475488" y="3758184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707642" y="3758184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DEFAULT 0 CHECK(≥0)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3950208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74320" y="3950208"/>
            <a:ext cx="260604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29184" y="39959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475488" y="3950208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707642" y="3950208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games_attempts_status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4142232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74320" y="4142232"/>
            <a:ext cx="260604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29184" y="418795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475488" y="414223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707642" y="414223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games_difficulty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08960" y="868680"/>
            <a:ext cx="2788920" cy="121615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108960" y="868680"/>
            <a:ext cx="278892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108960" y="996696"/>
            <a:ext cx="278892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3218688" y="877824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user_games_score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108960" y="1124712"/>
            <a:ext cx="278892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163824" y="117043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3310128" y="1124712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4642866" y="1124712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108960" y="1316736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108960" y="1316736"/>
            <a:ext cx="278892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163824" y="136245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3310128" y="1316736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game_id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4642866" y="1316736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games(id)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108960" y="1508760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108960" y="1508760"/>
            <a:ext cx="278892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163824" y="155448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 txBox="1"/>
          <p:nvPr/>
        </p:nvSpPr>
        <p:spPr>
          <a:xfrm>
            <a:off x="3310128" y="1508760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last_score_id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4642866" y="1508760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attempts(id)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108960" y="1700784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 txBox="1"/>
          <p:nvPr/>
        </p:nvSpPr>
        <p:spPr>
          <a:xfrm>
            <a:off x="3310128" y="1700784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4642866" y="1700784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DEFAULT 0 CHECK(≥0)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108960" y="1892808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108960" y="1892808"/>
            <a:ext cx="278892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163824" y="19385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 txBox="1"/>
          <p:nvPr/>
        </p:nvSpPr>
        <p:spPr>
          <a:xfrm>
            <a:off x="3310128" y="1892808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4642866" y="1892808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games_difficulty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3108960" y="21031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(user_id, game_id, difficulty)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108960" y="3154680"/>
            <a:ext cx="2788920" cy="1216152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108960" y="3154680"/>
            <a:ext cx="278892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108960" y="3282696"/>
            <a:ext cx="278892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 txBox="1"/>
          <p:nvPr/>
        </p:nvSpPr>
        <p:spPr>
          <a:xfrm>
            <a:off x="3218688" y="3163824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108960" y="3410712"/>
            <a:ext cx="278892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163824" y="3456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 txBox="1"/>
          <p:nvPr/>
        </p:nvSpPr>
        <p:spPr>
          <a:xfrm>
            <a:off x="3310128" y="3410712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4642866" y="3410712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108960" y="3602736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 txBox="1"/>
          <p:nvPr/>
        </p:nvSpPr>
        <p:spPr>
          <a:xfrm>
            <a:off x="3310128" y="3602736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4642866" y="3602736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108960" y="3794760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 txBox="1"/>
          <p:nvPr/>
        </p:nvSpPr>
        <p:spPr>
          <a:xfrm>
            <a:off x="3310128" y="3794760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03" name="Text 101"/>
          <p:cNvSpPr txBox="1"/>
          <p:nvPr/>
        </p:nvSpPr>
        <p:spPr>
          <a:xfrm>
            <a:off x="4642866" y="3794760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NOT NULL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108960" y="3986784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 txBox="1"/>
          <p:nvPr/>
        </p:nvSpPr>
        <p:spPr>
          <a:xfrm>
            <a:off x="3310128" y="3986784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4642866" y="3986784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NOT NULL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108960" y="4178808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 txBox="1"/>
          <p:nvPr/>
        </p:nvSpPr>
        <p:spPr>
          <a:xfrm>
            <a:off x="3310128" y="4178808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4642866" y="4178808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DEFAULT false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126480" y="868680"/>
            <a:ext cx="2880360" cy="1408176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6126480" y="868680"/>
            <a:ext cx="288036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6126480" y="996696"/>
            <a:ext cx="288036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 txBox="1"/>
          <p:nvPr/>
        </p:nvSpPr>
        <p:spPr>
          <a:xfrm>
            <a:off x="6236208" y="877824"/>
            <a:ext cx="2660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user_exercise</a:t>
            </a:r>
            <a:endParaRPr lang="en-US" sz="1150" dirty="0"/>
          </a:p>
        </p:txBody>
      </p:sp>
      <p:sp>
        <p:nvSpPr>
          <p:cNvPr id="114" name="Shape 112"/>
          <p:cNvSpPr/>
          <p:nvPr/>
        </p:nvSpPr>
        <p:spPr>
          <a:xfrm>
            <a:off x="6126480" y="1124712"/>
            <a:ext cx="288036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181344" y="1170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 txBox="1"/>
          <p:nvPr/>
        </p:nvSpPr>
        <p:spPr>
          <a:xfrm>
            <a:off x="6327648" y="1124712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17" name="Text 115"/>
          <p:cNvSpPr txBox="1"/>
          <p:nvPr/>
        </p:nvSpPr>
        <p:spPr>
          <a:xfrm>
            <a:off x="7710678" y="1124712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126480" y="1316736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126480" y="1316736"/>
            <a:ext cx="288036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181344" y="136245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 txBox="1"/>
          <p:nvPr/>
        </p:nvSpPr>
        <p:spPr>
          <a:xfrm>
            <a:off x="6327648" y="1316736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122" name="Text 120"/>
          <p:cNvSpPr txBox="1"/>
          <p:nvPr/>
        </p:nvSpPr>
        <p:spPr>
          <a:xfrm>
            <a:off x="7710678" y="1316736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126480" y="1508760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126480" y="1508760"/>
            <a:ext cx="288036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6181344" y="155448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 txBox="1"/>
          <p:nvPr/>
        </p:nvSpPr>
        <p:spPr>
          <a:xfrm>
            <a:off x="6327648" y="1508760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exercise_id</a:t>
            </a:r>
            <a:endParaRPr lang="en-US" sz="900" dirty="0"/>
          </a:p>
        </p:txBody>
      </p:sp>
      <p:sp>
        <p:nvSpPr>
          <p:cNvPr id="127" name="Text 125"/>
          <p:cNvSpPr txBox="1"/>
          <p:nvPr/>
        </p:nvSpPr>
        <p:spPr>
          <a:xfrm>
            <a:off x="7710678" y="1508760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exercise(id)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126480" y="1700784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126480" y="1700784"/>
            <a:ext cx="288036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181344" y="174650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 txBox="1"/>
          <p:nvPr/>
        </p:nvSpPr>
        <p:spPr>
          <a:xfrm>
            <a:off x="6327648" y="1700784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status_exercise</a:t>
            </a:r>
            <a:endParaRPr lang="en-US" sz="900" dirty="0"/>
          </a:p>
        </p:txBody>
      </p:sp>
      <p:sp>
        <p:nvSpPr>
          <p:cNvPr id="132" name="Text 130"/>
          <p:cNvSpPr txBox="1"/>
          <p:nvPr/>
        </p:nvSpPr>
        <p:spPr>
          <a:xfrm>
            <a:off x="7710678" y="1700784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user_exercise_status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6126480" y="1892808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 txBox="1"/>
          <p:nvPr/>
        </p:nvSpPr>
        <p:spPr>
          <a:xfrm>
            <a:off x="6327648" y="1892808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time_spent</a:t>
            </a:r>
            <a:endParaRPr lang="en-US" sz="900" dirty="0"/>
          </a:p>
        </p:txBody>
      </p:sp>
      <p:sp>
        <p:nvSpPr>
          <p:cNvPr id="135" name="Text 133"/>
          <p:cNvSpPr txBox="1"/>
          <p:nvPr/>
        </p:nvSpPr>
        <p:spPr>
          <a:xfrm>
            <a:off x="7710678" y="1892808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DEFAULT 0 (sec)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126480" y="2084832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 txBox="1"/>
          <p:nvPr/>
        </p:nvSpPr>
        <p:spPr>
          <a:xfrm>
            <a:off x="6327648" y="2084832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completed_at</a:t>
            </a:r>
            <a:endParaRPr lang="en-US" sz="900" dirty="0"/>
          </a:p>
        </p:txBody>
      </p:sp>
      <p:sp>
        <p:nvSpPr>
          <p:cNvPr id="138" name="Text 136"/>
          <p:cNvSpPr txBox="1"/>
          <p:nvPr/>
        </p:nvSpPr>
        <p:spPr>
          <a:xfrm>
            <a:off x="7710678" y="2084832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 NULL</a:t>
            </a:r>
            <a:endParaRPr lang="en-US" sz="800" dirty="0"/>
          </a:p>
        </p:txBody>
      </p:sp>
      <p:sp>
        <p:nvSpPr>
          <p:cNvPr id="139" name="Text 137"/>
          <p:cNvSpPr txBox="1"/>
          <p:nvPr/>
        </p:nvSpPr>
        <p:spPr>
          <a:xfrm>
            <a:off x="6126480" y="2295144"/>
            <a:ext cx="2880360" cy="182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(user_id, exercise_id)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6126480" y="3154680"/>
            <a:ext cx="28803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6126480" y="3154680"/>
            <a:ext cx="288036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6126480" y="3282696"/>
            <a:ext cx="288036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 txBox="1"/>
          <p:nvPr/>
        </p:nvSpPr>
        <p:spPr>
          <a:xfrm>
            <a:off x="6236208" y="3163824"/>
            <a:ext cx="2660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user_exercise_viewed</a:t>
            </a:r>
            <a:endParaRPr lang="en-US" sz="1150" dirty="0"/>
          </a:p>
        </p:txBody>
      </p:sp>
      <p:sp>
        <p:nvSpPr>
          <p:cNvPr id="144" name="Shape 142"/>
          <p:cNvSpPr/>
          <p:nvPr/>
        </p:nvSpPr>
        <p:spPr>
          <a:xfrm>
            <a:off x="6126480" y="3410712"/>
            <a:ext cx="288036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6181344" y="3456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 txBox="1"/>
          <p:nvPr/>
        </p:nvSpPr>
        <p:spPr>
          <a:xfrm>
            <a:off x="6327648" y="3410712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47" name="Text 145"/>
          <p:cNvSpPr txBox="1"/>
          <p:nvPr/>
        </p:nvSpPr>
        <p:spPr>
          <a:xfrm>
            <a:off x="7710678" y="3410712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6126480" y="3602736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6126480" y="3602736"/>
            <a:ext cx="288036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6181344" y="364845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 txBox="1"/>
          <p:nvPr/>
        </p:nvSpPr>
        <p:spPr>
          <a:xfrm>
            <a:off x="6327648" y="3602736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</p:txBody>
      </p:sp>
      <p:sp>
        <p:nvSpPr>
          <p:cNvPr id="152" name="Text 150"/>
          <p:cNvSpPr txBox="1"/>
          <p:nvPr/>
        </p:nvSpPr>
        <p:spPr>
          <a:xfrm>
            <a:off x="7710678" y="3602736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users(id)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6126480" y="3794760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6126480" y="3794760"/>
            <a:ext cx="288036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6181344" y="384048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 txBox="1"/>
          <p:nvPr/>
        </p:nvSpPr>
        <p:spPr>
          <a:xfrm>
            <a:off x="6327648" y="3794760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exercise_id</a:t>
            </a:r>
            <a:endParaRPr lang="en-US" sz="900" dirty="0"/>
          </a:p>
        </p:txBody>
      </p:sp>
      <p:sp>
        <p:nvSpPr>
          <p:cNvPr id="157" name="Text 155"/>
          <p:cNvSpPr txBox="1"/>
          <p:nvPr/>
        </p:nvSpPr>
        <p:spPr>
          <a:xfrm>
            <a:off x="7710678" y="3794760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exercise(id)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126480" y="3986784"/>
            <a:ext cx="2880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 txBox="1"/>
          <p:nvPr/>
        </p:nvSpPr>
        <p:spPr>
          <a:xfrm>
            <a:off x="6327648" y="3986784"/>
            <a:ext cx="13830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viewed_at</a:t>
            </a:r>
            <a:endParaRPr lang="en-US" sz="900" dirty="0"/>
          </a:p>
        </p:txBody>
      </p:sp>
      <p:sp>
        <p:nvSpPr>
          <p:cNvPr id="160" name="Text 158"/>
          <p:cNvSpPr txBox="1"/>
          <p:nvPr/>
        </p:nvSpPr>
        <p:spPr>
          <a:xfrm>
            <a:off x="7710678" y="3986784"/>
            <a:ext cx="12230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 now()</a:t>
            </a:r>
            <a:endParaRPr lang="en-US" sz="800" dirty="0"/>
          </a:p>
        </p:txBody>
      </p:sp>
      <p:sp>
        <p:nvSpPr>
          <p:cNvPr id="161" name="Text 159"/>
          <p:cNvSpPr txBox="1"/>
          <p:nvPr/>
        </p:nvSpPr>
        <p:spPr>
          <a:xfrm>
            <a:off x="6126480" y="41970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(user_id, exercise_id)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9281160" y="868680"/>
            <a:ext cx="26060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9281160" y="86868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9281160" y="99669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 txBox="1"/>
          <p:nvPr/>
        </p:nvSpPr>
        <p:spPr>
          <a:xfrm>
            <a:off x="9390888" y="87782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</a:t>
            </a:r>
            <a:endParaRPr lang="en-US" sz="1150" dirty="0"/>
          </a:p>
        </p:txBody>
      </p:sp>
      <p:sp>
        <p:nvSpPr>
          <p:cNvPr id="166" name="Shape 164"/>
          <p:cNvSpPr/>
          <p:nvPr/>
        </p:nvSpPr>
        <p:spPr>
          <a:xfrm>
            <a:off x="9281160" y="1124712"/>
            <a:ext cx="260604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9336024" y="11704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 txBox="1"/>
          <p:nvPr/>
        </p:nvSpPr>
        <p:spPr>
          <a:xfrm>
            <a:off x="9482328" y="112471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69" name="Text 167"/>
          <p:cNvSpPr txBox="1"/>
          <p:nvPr/>
        </p:nvSpPr>
        <p:spPr>
          <a:xfrm>
            <a:off x="10714482" y="112471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9281160" y="131673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 txBox="1"/>
          <p:nvPr/>
        </p:nvSpPr>
        <p:spPr>
          <a:xfrm>
            <a:off x="9482328" y="131673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172" name="Text 170"/>
          <p:cNvSpPr txBox="1"/>
          <p:nvPr/>
        </p:nvSpPr>
        <p:spPr>
          <a:xfrm>
            <a:off x="10714482" y="131673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9281160" y="1508760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 txBox="1"/>
          <p:nvPr/>
        </p:nvSpPr>
        <p:spPr>
          <a:xfrm>
            <a:off x="9482328" y="1508760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</a:t>
            </a:r>
            <a:endParaRPr lang="en-US" sz="900" dirty="0"/>
          </a:p>
        </p:txBody>
      </p:sp>
      <p:sp>
        <p:nvSpPr>
          <p:cNvPr id="175" name="Text 173"/>
          <p:cNvSpPr txBox="1"/>
          <p:nvPr/>
        </p:nvSpPr>
        <p:spPr>
          <a:xfrm>
            <a:off x="10714482" y="1508760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9281160" y="219456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9281160" y="219456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9281160" y="232257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 txBox="1"/>
          <p:nvPr/>
        </p:nvSpPr>
        <p:spPr>
          <a:xfrm>
            <a:off x="9390888" y="220370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exercise_topic</a:t>
            </a:r>
            <a:endParaRPr lang="en-US" sz="1150" dirty="0"/>
          </a:p>
        </p:txBody>
      </p:sp>
      <p:sp>
        <p:nvSpPr>
          <p:cNvPr id="180" name="Shape 178"/>
          <p:cNvSpPr/>
          <p:nvPr/>
        </p:nvSpPr>
        <p:spPr>
          <a:xfrm>
            <a:off x="9281160" y="2450592"/>
            <a:ext cx="260604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336024" y="249631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 txBox="1"/>
          <p:nvPr/>
        </p:nvSpPr>
        <p:spPr>
          <a:xfrm>
            <a:off x="9482328" y="245059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exercise_id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10714482" y="245059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exercise(id)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9281160" y="264261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9281160" y="2642616"/>
            <a:ext cx="260604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9336024" y="268833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 txBox="1"/>
          <p:nvPr/>
        </p:nvSpPr>
        <p:spPr>
          <a:xfrm>
            <a:off x="9482328" y="264261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topic_id</a:t>
            </a:r>
            <a:endParaRPr lang="en-US" sz="900" dirty="0"/>
          </a:p>
        </p:txBody>
      </p:sp>
      <p:sp>
        <p:nvSpPr>
          <p:cNvPr id="188" name="Text 186"/>
          <p:cNvSpPr txBox="1"/>
          <p:nvPr/>
        </p:nvSpPr>
        <p:spPr>
          <a:xfrm>
            <a:off x="10714482" y="264261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topic(id)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9281160" y="28529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(exercise_id, topic_id)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9281160" y="3383280"/>
            <a:ext cx="26060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9281160" y="338328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9281160" y="351129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 txBox="1"/>
          <p:nvPr/>
        </p:nvSpPr>
        <p:spPr>
          <a:xfrm>
            <a:off x="9390888" y="339242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194" name="Shape 192"/>
          <p:cNvSpPr/>
          <p:nvPr/>
        </p:nvSpPr>
        <p:spPr>
          <a:xfrm>
            <a:off x="9281160" y="3639312"/>
            <a:ext cx="260604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9336024" y="36850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 txBox="1"/>
          <p:nvPr/>
        </p:nvSpPr>
        <p:spPr>
          <a:xfrm>
            <a:off x="9482328" y="363931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97" name="Text 195"/>
          <p:cNvSpPr txBox="1"/>
          <p:nvPr/>
        </p:nvSpPr>
        <p:spPr>
          <a:xfrm>
            <a:off x="10714482" y="363931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IDENTITY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9281160" y="383133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 txBox="1"/>
          <p:nvPr/>
        </p:nvSpPr>
        <p:spPr>
          <a:xfrm>
            <a:off x="9482328" y="383133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200" name="Text 198"/>
          <p:cNvSpPr txBox="1"/>
          <p:nvPr/>
        </p:nvSpPr>
        <p:spPr>
          <a:xfrm>
            <a:off x="10714482" y="383133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9281160" y="4023360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200"/>
          <p:cNvSpPr txBox="1"/>
          <p:nvPr/>
        </p:nvSpPr>
        <p:spPr>
          <a:xfrm>
            <a:off x="9482328" y="4023360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</a:t>
            </a:r>
            <a:endParaRPr lang="en-US" sz="900" dirty="0"/>
          </a:p>
        </p:txBody>
      </p:sp>
      <p:sp>
        <p:nvSpPr>
          <p:cNvPr id="203" name="Text 201"/>
          <p:cNvSpPr txBox="1"/>
          <p:nvPr/>
        </p:nvSpPr>
        <p:spPr>
          <a:xfrm>
            <a:off x="10714482" y="4023360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 UNIQUE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9281160" y="4709160"/>
            <a:ext cx="2606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9281160" y="4709160"/>
            <a:ext cx="260604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9281160" y="4837176"/>
            <a:ext cx="260604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05"/>
          <p:cNvSpPr txBox="1"/>
          <p:nvPr/>
        </p:nvSpPr>
        <p:spPr>
          <a:xfrm>
            <a:off x="9390888" y="4718304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exercise_technology</a:t>
            </a:r>
            <a:endParaRPr lang="en-US" sz="1150" dirty="0"/>
          </a:p>
        </p:txBody>
      </p:sp>
      <p:sp>
        <p:nvSpPr>
          <p:cNvPr id="208" name="Shape 206"/>
          <p:cNvSpPr/>
          <p:nvPr/>
        </p:nvSpPr>
        <p:spPr>
          <a:xfrm>
            <a:off x="9281160" y="4965192"/>
            <a:ext cx="260604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9336024" y="501091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 txBox="1"/>
          <p:nvPr/>
        </p:nvSpPr>
        <p:spPr>
          <a:xfrm>
            <a:off x="9482328" y="4965192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exercise_id</a:t>
            </a:r>
            <a:endParaRPr lang="en-US" sz="900" dirty="0"/>
          </a:p>
        </p:txBody>
      </p:sp>
      <p:sp>
        <p:nvSpPr>
          <p:cNvPr id="211" name="Text 209"/>
          <p:cNvSpPr txBox="1"/>
          <p:nvPr/>
        </p:nvSpPr>
        <p:spPr>
          <a:xfrm>
            <a:off x="10714482" y="4965192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exercise(id)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9281160" y="5157216"/>
            <a:ext cx="2606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9281160" y="5157216"/>
            <a:ext cx="260604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9336024" y="520293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213"/>
          <p:cNvSpPr txBox="1"/>
          <p:nvPr/>
        </p:nvSpPr>
        <p:spPr>
          <a:xfrm>
            <a:off x="9482328" y="5157216"/>
            <a:ext cx="12321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technology_id</a:t>
            </a:r>
            <a:endParaRPr lang="en-US" sz="900" dirty="0"/>
          </a:p>
        </p:txBody>
      </p:sp>
      <p:sp>
        <p:nvSpPr>
          <p:cNvPr id="216" name="Text 214"/>
          <p:cNvSpPr txBox="1"/>
          <p:nvPr/>
        </p:nvSpPr>
        <p:spPr>
          <a:xfrm>
            <a:off x="10714482" y="5157216"/>
            <a:ext cx="10995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technology(id)</a:t>
            </a:r>
            <a:endParaRPr lang="en-US" sz="800" dirty="0"/>
          </a:p>
        </p:txBody>
      </p:sp>
      <p:sp>
        <p:nvSpPr>
          <p:cNvPr id="217" name="Text 215"/>
          <p:cNvSpPr txBox="1"/>
          <p:nvPr/>
        </p:nvSpPr>
        <p:spPr>
          <a:xfrm>
            <a:off x="9281160" y="53675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(exercise_id, technology_id)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3108960" y="4892040"/>
            <a:ext cx="2788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3108960" y="4892040"/>
            <a:ext cx="278892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3108960" y="5020056"/>
            <a:ext cx="2788920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219"/>
          <p:cNvSpPr txBox="1"/>
          <p:nvPr/>
        </p:nvSpPr>
        <p:spPr>
          <a:xfrm>
            <a:off x="3218688" y="4901184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exercise_video</a:t>
            </a:r>
            <a:endParaRPr lang="en-US" sz="1150" dirty="0"/>
          </a:p>
        </p:txBody>
      </p:sp>
      <p:sp>
        <p:nvSpPr>
          <p:cNvPr id="222" name="Shape 220"/>
          <p:cNvSpPr/>
          <p:nvPr/>
        </p:nvSpPr>
        <p:spPr>
          <a:xfrm>
            <a:off x="3108960" y="5148072"/>
            <a:ext cx="278892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3163824" y="51937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 txBox="1"/>
          <p:nvPr/>
        </p:nvSpPr>
        <p:spPr>
          <a:xfrm>
            <a:off x="3310128" y="5148072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exercise_id</a:t>
            </a:r>
            <a:endParaRPr lang="en-US" sz="900" dirty="0"/>
          </a:p>
        </p:txBody>
      </p:sp>
      <p:sp>
        <p:nvSpPr>
          <p:cNvPr id="225" name="Text 223"/>
          <p:cNvSpPr txBox="1"/>
          <p:nvPr/>
        </p:nvSpPr>
        <p:spPr>
          <a:xfrm>
            <a:off x="4642866" y="5148072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exercise(id)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3108960" y="5340096"/>
            <a:ext cx="27889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3108960" y="5340096"/>
            <a:ext cx="2788920" cy="1920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3163824" y="538581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227"/>
          <p:cNvSpPr txBox="1"/>
          <p:nvPr/>
        </p:nvSpPr>
        <p:spPr>
          <a:xfrm>
            <a:off x="3310128" y="5340096"/>
            <a:ext cx="13327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video_id</a:t>
            </a:r>
            <a:endParaRPr lang="en-US" sz="900" dirty="0"/>
          </a:p>
        </p:txBody>
      </p:sp>
      <p:sp>
        <p:nvSpPr>
          <p:cNvPr id="230" name="Text 228"/>
          <p:cNvSpPr txBox="1"/>
          <p:nvPr/>
        </p:nvSpPr>
        <p:spPr>
          <a:xfrm>
            <a:off x="4642866" y="5340096"/>
            <a:ext cx="1181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→ video(id)</a:t>
            </a:r>
            <a:endParaRPr lang="en-US" sz="800" dirty="0"/>
          </a:p>
        </p:txBody>
      </p:sp>
      <p:sp>
        <p:nvSpPr>
          <p:cNvPr id="231" name="Text 229"/>
          <p:cNvSpPr txBox="1"/>
          <p:nvPr/>
        </p:nvSpPr>
        <p:spPr>
          <a:xfrm>
            <a:off x="3108960" y="55504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(exercise_id, video_id)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1577340" y="2084832"/>
            <a:ext cx="0" cy="84124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1513332" y="2157984"/>
            <a:ext cx="1280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1504188" y="280720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 flipH="1">
            <a:off x="1577340" y="280720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1504188" y="2779776"/>
            <a:ext cx="14630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2884932" y="1197864"/>
            <a:ext cx="22860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8" name="Shape 236"/>
          <p:cNvSpPr/>
          <p:nvPr/>
        </p:nvSpPr>
        <p:spPr>
          <a:xfrm>
            <a:off x="3000639" y="1133856"/>
            <a:ext cx="0" cy="128016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2999232" y="1124712"/>
            <a:ext cx="118872" cy="7315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 flipH="1">
            <a:off x="2999232" y="1197864"/>
            <a:ext cx="118872" cy="7315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1" name="Shape 239"/>
          <p:cNvSpPr/>
          <p:nvPr/>
        </p:nvSpPr>
        <p:spPr>
          <a:xfrm>
            <a:off x="2945775" y="1124712"/>
            <a:ext cx="0" cy="146304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2880360" y="3278124"/>
            <a:ext cx="914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2971800" y="1604772"/>
            <a:ext cx="0" cy="167335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2971800" y="1604772"/>
            <a:ext cx="1371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2934345" y="3200400"/>
            <a:ext cx="0" cy="12801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2990088" y="1531620"/>
            <a:ext cx="118872" cy="7315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 flipH="1">
            <a:off x="2990088" y="1604772"/>
            <a:ext cx="118872" cy="7315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2992667" y="1531620"/>
            <a:ext cx="0" cy="14630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4503420" y="4370832"/>
            <a:ext cx="0" cy="52120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4439412" y="4443984"/>
            <a:ext cx="1280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4430268" y="477316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 flipH="1">
            <a:off x="4503420" y="477316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4430268" y="4745736"/>
            <a:ext cx="14630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10584180" y="1700784"/>
            <a:ext cx="0" cy="49377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10520172" y="1773936"/>
            <a:ext cx="1280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10511028" y="207568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 flipH="1">
            <a:off x="10584180" y="207568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10511028" y="2048256"/>
            <a:ext cx="14630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0584180" y="4215384"/>
            <a:ext cx="0" cy="49377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10520172" y="4288536"/>
            <a:ext cx="1280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10511028" y="459028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 flipH="1">
            <a:off x="10584180" y="4590288"/>
            <a:ext cx="73152" cy="1188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10511028" y="4562856"/>
            <a:ext cx="14630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274320" y="4370832"/>
            <a:ext cx="1645920" cy="182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Text 263"/>
          <p:cNvSpPr txBox="1"/>
          <p:nvPr/>
        </p:nvSpPr>
        <p:spPr>
          <a:xfrm>
            <a:off x="329184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users.id (Part 1)</a:t>
            </a:r>
            <a:endParaRPr lang="en-US" sz="750" dirty="0"/>
          </a:p>
        </p:txBody>
      </p:sp>
      <p:sp>
        <p:nvSpPr>
          <p:cNvPr id="266" name="Shape 264"/>
          <p:cNvSpPr/>
          <p:nvPr/>
        </p:nvSpPr>
        <p:spPr>
          <a:xfrm>
            <a:off x="3108960" y="2313432"/>
            <a:ext cx="1645920" cy="182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Text 265"/>
          <p:cNvSpPr txBox="1"/>
          <p:nvPr/>
        </p:nvSpPr>
        <p:spPr>
          <a:xfrm>
            <a:off x="3163824" y="2313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users.id (Part 1)</a:t>
            </a:r>
            <a:endParaRPr lang="en-US" sz="750" dirty="0"/>
          </a:p>
        </p:txBody>
      </p:sp>
      <p:sp>
        <p:nvSpPr>
          <p:cNvPr id="268" name="Shape 266"/>
          <p:cNvSpPr/>
          <p:nvPr/>
        </p:nvSpPr>
        <p:spPr>
          <a:xfrm>
            <a:off x="6126480" y="4233672"/>
            <a:ext cx="2468880" cy="182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Text 267"/>
          <p:cNvSpPr txBox="1"/>
          <p:nvPr/>
        </p:nvSpPr>
        <p:spPr>
          <a:xfrm>
            <a:off x="6181344" y="4233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users.id, exercise.id (Part 1)</a:t>
            </a:r>
            <a:endParaRPr lang="en-US" sz="750" dirty="0"/>
          </a:p>
        </p:txBody>
      </p:sp>
      <p:sp>
        <p:nvSpPr>
          <p:cNvPr id="270" name="Shape 268"/>
          <p:cNvSpPr/>
          <p:nvPr/>
        </p:nvSpPr>
        <p:spPr>
          <a:xfrm>
            <a:off x="9281160" y="5577840"/>
            <a:ext cx="2011680" cy="182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Text 269"/>
          <p:cNvSpPr txBox="1"/>
          <p:nvPr/>
        </p:nvSpPr>
        <p:spPr>
          <a:xfrm>
            <a:off x="9336024" y="5577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exercise.id (Part 1)</a:t>
            </a:r>
            <a:endParaRPr lang="en-US" sz="750" dirty="0"/>
          </a:p>
        </p:txBody>
      </p:sp>
      <p:sp>
        <p:nvSpPr>
          <p:cNvPr id="272" name="Shape 270"/>
          <p:cNvSpPr/>
          <p:nvPr/>
        </p:nvSpPr>
        <p:spPr>
          <a:xfrm>
            <a:off x="3108960" y="5760720"/>
            <a:ext cx="2011680" cy="182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 txBox="1"/>
          <p:nvPr/>
        </p:nvSpPr>
        <p:spPr>
          <a:xfrm>
            <a:off x="3163824" y="5760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exercise.id (Part 1)</a:t>
            </a:r>
            <a:endParaRPr lang="en-US" sz="750" dirty="0"/>
          </a:p>
        </p:txBody>
      </p:sp>
      <p:sp>
        <p:nvSpPr>
          <p:cNvPr id="274" name="Text 272"/>
          <p:cNvSpPr txBox="1"/>
          <p:nvPr/>
        </p:nvSpPr>
        <p:spPr>
          <a:xfrm>
            <a:off x="320040" y="653796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Cross-slide FKs shown as grey badges referencing Part 1 · junction tables use composite primary keys · ENUM columns use Postgres CREATE TYPE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21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04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1306</Words>
  <Application>Microsoft Office PowerPoint</Application>
  <DocSecurity>0</DocSecurity>
  <PresentationFormat>Widescreen</PresentationFormat>
  <Paragraphs>328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Ravshanjon Rakhmonberdiev</cp:lastModifiedBy>
  <cp:revision>2</cp:revision>
  <dcterms:created xsi:type="dcterms:W3CDTF">2026-08-31T14:14:33Z</dcterms:created>
  <dcterms:modified xsi:type="dcterms:W3CDTF">2026-09-13T18:43:39Z</dcterms:modified>
</cp:coreProperties>
</file>